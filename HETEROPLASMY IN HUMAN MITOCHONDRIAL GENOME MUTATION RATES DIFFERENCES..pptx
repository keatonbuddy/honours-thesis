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4"/>
  </p:sldMasterIdLst>
  <p:notesMasterIdLst>
    <p:notesMasterId r:id="rId31"/>
  </p:notesMasterIdLst>
  <p:sldIdLst>
    <p:sldId id="257" r:id="rId5"/>
    <p:sldId id="264" r:id="rId6"/>
    <p:sldId id="265" r:id="rId7"/>
    <p:sldId id="279" r:id="rId8"/>
    <p:sldId id="267" r:id="rId9"/>
    <p:sldId id="277" r:id="rId10"/>
    <p:sldId id="280" r:id="rId11"/>
    <p:sldId id="281" r:id="rId12"/>
    <p:sldId id="263" r:id="rId13"/>
    <p:sldId id="269" r:id="rId14"/>
    <p:sldId id="285" r:id="rId15"/>
    <p:sldId id="282" r:id="rId16"/>
    <p:sldId id="271" r:id="rId17"/>
    <p:sldId id="270" r:id="rId18"/>
    <p:sldId id="272" r:id="rId19"/>
    <p:sldId id="288" r:id="rId20"/>
    <p:sldId id="292" r:id="rId21"/>
    <p:sldId id="290" r:id="rId22"/>
    <p:sldId id="291" r:id="rId23"/>
    <p:sldId id="286" r:id="rId24"/>
    <p:sldId id="275" r:id="rId25"/>
    <p:sldId id="284" r:id="rId26"/>
    <p:sldId id="283" r:id="rId27"/>
    <p:sldId id="289" r:id="rId28"/>
    <p:sldId id="276" r:id="rId29"/>
    <p:sldId id="287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4529"/>
    <a:srgbClr val="2B3922"/>
    <a:srgbClr val="2E3722"/>
    <a:srgbClr val="FCF7F1"/>
    <a:srgbClr val="B8D233"/>
    <a:srgbClr val="5CC6D6"/>
    <a:srgbClr val="F8D22F"/>
    <a:srgbClr val="F03F2B"/>
    <a:srgbClr val="3488A0"/>
    <a:srgbClr val="5790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046" autoAdjust="0"/>
  </p:normalViewPr>
  <p:slideViewPr>
    <p:cSldViewPr snapToGrid="0">
      <p:cViewPr varScale="1">
        <p:scale>
          <a:sx n="104" d="100"/>
          <a:sy n="104" d="100"/>
        </p:scale>
        <p:origin x="87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1CC3642-673F-4EF0-9B16-C5485ED5F43B}" type="doc">
      <dgm:prSet loTypeId="urn:microsoft.com/office/officeart/2005/8/layout/vList5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n-CA"/>
        </a:p>
      </dgm:t>
    </dgm:pt>
    <dgm:pt modelId="{356B3C4C-F306-4E5A-BE4D-C4A084376DAB}">
      <dgm:prSet phldrT="[Text]"/>
      <dgm:spPr/>
      <dgm:t>
        <a:bodyPr/>
        <a:lstStyle/>
        <a:p>
          <a:r>
            <a:rPr lang="en-US" dirty="0"/>
            <a:t>Statistical Power</a:t>
          </a:r>
          <a:endParaRPr lang="en-CA" dirty="0"/>
        </a:p>
      </dgm:t>
    </dgm:pt>
    <dgm:pt modelId="{907565F9-326F-40BD-8737-361BD5BF91C8}" type="parTrans" cxnId="{8ECCC717-C228-420D-8846-58D5C7A274F0}">
      <dgm:prSet/>
      <dgm:spPr/>
      <dgm:t>
        <a:bodyPr/>
        <a:lstStyle/>
        <a:p>
          <a:endParaRPr lang="en-CA"/>
        </a:p>
      </dgm:t>
    </dgm:pt>
    <dgm:pt modelId="{F94F8884-0A9D-4365-BFA4-F2A9F034B633}" type="sibTrans" cxnId="{8ECCC717-C228-420D-8846-58D5C7A274F0}">
      <dgm:prSet/>
      <dgm:spPr/>
      <dgm:t>
        <a:bodyPr/>
        <a:lstStyle/>
        <a:p>
          <a:endParaRPr lang="en-CA"/>
        </a:p>
      </dgm:t>
    </dgm:pt>
    <dgm:pt modelId="{78BF5AF1-BD72-4FC7-9DCB-2B78920CDDDD}">
      <dgm:prSet phldrT="[Text]"/>
      <dgm:spPr/>
      <dgm:t>
        <a:bodyPr/>
        <a:lstStyle/>
        <a:p>
          <a:r>
            <a:rPr lang="en-US" dirty="0"/>
            <a:t> Sample specific rate statistical significance (blood vs cheek)</a:t>
          </a:r>
          <a:endParaRPr lang="en-CA" dirty="0"/>
        </a:p>
      </dgm:t>
    </dgm:pt>
    <dgm:pt modelId="{1FA5433E-CF4C-436B-B614-778DCE9325C9}" type="parTrans" cxnId="{843D58E0-3E70-4401-9A0A-520A146CDFC6}">
      <dgm:prSet/>
      <dgm:spPr/>
      <dgm:t>
        <a:bodyPr/>
        <a:lstStyle/>
        <a:p>
          <a:endParaRPr lang="en-CA"/>
        </a:p>
      </dgm:t>
    </dgm:pt>
    <dgm:pt modelId="{BEB51E2C-9406-4C78-9066-7A32E1AECE68}" type="sibTrans" cxnId="{843D58E0-3E70-4401-9A0A-520A146CDFC6}">
      <dgm:prSet/>
      <dgm:spPr/>
      <dgm:t>
        <a:bodyPr/>
        <a:lstStyle/>
        <a:p>
          <a:endParaRPr lang="en-CA"/>
        </a:p>
      </dgm:t>
    </dgm:pt>
    <dgm:pt modelId="{7882AF55-D325-4351-84AA-A49606754973}">
      <dgm:prSet phldrT="[Text]"/>
      <dgm:spPr/>
      <dgm:t>
        <a:bodyPr/>
        <a:lstStyle/>
        <a:p>
          <a:r>
            <a:rPr lang="en-US" dirty="0"/>
            <a:t> Histogram statistical significance (T and KS Tests)</a:t>
          </a:r>
          <a:endParaRPr lang="en-CA" dirty="0"/>
        </a:p>
      </dgm:t>
    </dgm:pt>
    <dgm:pt modelId="{B799EAC3-B000-4B15-860B-F23F0A45EA3E}" type="parTrans" cxnId="{94EA5A0A-DF69-4006-B16D-DF9877371DA4}">
      <dgm:prSet/>
      <dgm:spPr/>
      <dgm:t>
        <a:bodyPr/>
        <a:lstStyle/>
        <a:p>
          <a:endParaRPr lang="en-CA"/>
        </a:p>
      </dgm:t>
    </dgm:pt>
    <dgm:pt modelId="{A5A98D23-31C6-45A8-9161-A2CC204F39D5}" type="sibTrans" cxnId="{94EA5A0A-DF69-4006-B16D-DF9877371DA4}">
      <dgm:prSet/>
      <dgm:spPr/>
      <dgm:t>
        <a:bodyPr/>
        <a:lstStyle/>
        <a:p>
          <a:endParaRPr lang="en-CA"/>
        </a:p>
      </dgm:t>
    </dgm:pt>
    <dgm:pt modelId="{C6A07398-DD79-4B32-9868-EFD8ED0CBB0B}">
      <dgm:prSet phldrT="[Text]"/>
      <dgm:spPr/>
      <dgm:t>
        <a:bodyPr/>
        <a:lstStyle/>
        <a:p>
          <a:r>
            <a:rPr lang="en-US" dirty="0"/>
            <a:t>Polymorphism Consideration</a:t>
          </a:r>
          <a:endParaRPr lang="en-CA" dirty="0"/>
        </a:p>
      </dgm:t>
    </dgm:pt>
    <dgm:pt modelId="{5691C23C-00CA-4EE4-A345-D4A5C2ECB1BF}" type="parTrans" cxnId="{DCAF6B82-DDC7-4D9E-B142-7274F852DB40}">
      <dgm:prSet/>
      <dgm:spPr/>
      <dgm:t>
        <a:bodyPr/>
        <a:lstStyle/>
        <a:p>
          <a:endParaRPr lang="en-CA"/>
        </a:p>
      </dgm:t>
    </dgm:pt>
    <dgm:pt modelId="{B4C2CF55-AEC8-41A8-977D-FE2A507876D0}" type="sibTrans" cxnId="{DCAF6B82-DDC7-4D9E-B142-7274F852DB40}">
      <dgm:prSet/>
      <dgm:spPr/>
      <dgm:t>
        <a:bodyPr/>
        <a:lstStyle/>
        <a:p>
          <a:endParaRPr lang="en-CA"/>
        </a:p>
      </dgm:t>
    </dgm:pt>
    <dgm:pt modelId="{88D28BE4-6AC7-42E5-ACC8-FADA58358865}">
      <dgm:prSet phldrT="[Text]"/>
      <dgm:spPr/>
      <dgm:t>
        <a:bodyPr/>
        <a:lstStyle/>
        <a:p>
          <a:r>
            <a:rPr lang="en-US" dirty="0"/>
            <a:t> Apply a Poisson random field approximation from </a:t>
          </a:r>
          <a:r>
            <a:rPr lang="en-US" dirty="0" err="1"/>
            <a:t>Mugal</a:t>
          </a:r>
          <a:r>
            <a:rPr lang="en-US" dirty="0"/>
            <a:t> et al. to “evolution rate” used in timescale approximations</a:t>
          </a:r>
          <a:endParaRPr lang="en-CA" dirty="0"/>
        </a:p>
      </dgm:t>
    </dgm:pt>
    <dgm:pt modelId="{C8143421-8AE9-49C6-A53A-A95D2353D46C}" type="parTrans" cxnId="{745B0C80-D38E-4499-A014-CA35352C9C05}">
      <dgm:prSet/>
      <dgm:spPr/>
      <dgm:t>
        <a:bodyPr/>
        <a:lstStyle/>
        <a:p>
          <a:endParaRPr lang="en-CA"/>
        </a:p>
      </dgm:t>
    </dgm:pt>
    <dgm:pt modelId="{74858856-542F-4694-8632-9F53D5DB2885}" type="sibTrans" cxnId="{745B0C80-D38E-4499-A014-CA35352C9C05}">
      <dgm:prSet/>
      <dgm:spPr/>
      <dgm:t>
        <a:bodyPr/>
        <a:lstStyle/>
        <a:p>
          <a:endParaRPr lang="en-CA"/>
        </a:p>
      </dgm:t>
    </dgm:pt>
    <dgm:pt modelId="{43108BB9-2AC5-4F44-A66D-B5A5373C34A0}">
      <dgm:prSet phldrT="[Text]"/>
      <dgm:spPr/>
      <dgm:t>
        <a:bodyPr/>
        <a:lstStyle/>
        <a:p>
          <a:r>
            <a:rPr lang="en-US" dirty="0"/>
            <a:t> Account for polymorphism conflation of pedigree-based rate estimates</a:t>
          </a:r>
          <a:endParaRPr lang="en-CA" dirty="0"/>
        </a:p>
      </dgm:t>
    </dgm:pt>
    <dgm:pt modelId="{719B593E-8152-4DEC-80C2-7F21553B65CB}" type="parTrans" cxnId="{2CFFB6EE-D51E-417D-BF87-C40315DEF1FA}">
      <dgm:prSet/>
      <dgm:spPr/>
      <dgm:t>
        <a:bodyPr/>
        <a:lstStyle/>
        <a:p>
          <a:endParaRPr lang="en-CA"/>
        </a:p>
      </dgm:t>
    </dgm:pt>
    <dgm:pt modelId="{4BFB8EA5-D7C7-44C4-B898-D69B505FB393}" type="sibTrans" cxnId="{2CFFB6EE-D51E-417D-BF87-C40315DEF1FA}">
      <dgm:prSet/>
      <dgm:spPr/>
      <dgm:t>
        <a:bodyPr/>
        <a:lstStyle/>
        <a:p>
          <a:endParaRPr lang="en-CA"/>
        </a:p>
      </dgm:t>
    </dgm:pt>
    <dgm:pt modelId="{817F15C6-0549-441D-A3E6-248D0F8514FD}">
      <dgm:prSet phldrT="[Text]"/>
      <dgm:spPr/>
      <dgm:t>
        <a:bodyPr/>
        <a:lstStyle/>
        <a:p>
          <a:r>
            <a:rPr lang="en-CA" dirty="0"/>
            <a:t>Explicit Mechanistic Simulations </a:t>
          </a:r>
        </a:p>
      </dgm:t>
    </dgm:pt>
    <dgm:pt modelId="{830519F3-6778-4A33-BBE7-01D3A25FABB8}" type="parTrans" cxnId="{B0EC32D3-9950-4215-98D2-2EC632A2F3E5}">
      <dgm:prSet/>
      <dgm:spPr/>
      <dgm:t>
        <a:bodyPr/>
        <a:lstStyle/>
        <a:p>
          <a:endParaRPr lang="en-CA"/>
        </a:p>
      </dgm:t>
    </dgm:pt>
    <dgm:pt modelId="{8BC4F994-A9B1-465C-9A38-B607474D8E37}" type="sibTrans" cxnId="{B0EC32D3-9950-4215-98D2-2EC632A2F3E5}">
      <dgm:prSet/>
      <dgm:spPr/>
      <dgm:t>
        <a:bodyPr/>
        <a:lstStyle/>
        <a:p>
          <a:endParaRPr lang="en-CA"/>
        </a:p>
      </dgm:t>
    </dgm:pt>
    <dgm:pt modelId="{DE4060D2-BB6E-42D6-8271-D46D70D928CA}">
      <dgm:prSet phldrT="[Text]"/>
      <dgm:spPr/>
      <dgm:t>
        <a:bodyPr/>
        <a:lstStyle/>
        <a:p>
          <a:r>
            <a:rPr lang="en-CA" dirty="0"/>
            <a:t> To understand detection of </a:t>
          </a:r>
          <a:r>
            <a:rPr lang="en-CA" i="1" dirty="0"/>
            <a:t>de novo </a:t>
          </a:r>
          <a:r>
            <a:rPr lang="en-CA" dirty="0"/>
            <a:t>variants vs inherited variation.</a:t>
          </a:r>
        </a:p>
      </dgm:t>
    </dgm:pt>
    <dgm:pt modelId="{A0469AE0-9BBE-4A02-9DF4-461226B6218C}" type="parTrans" cxnId="{27123425-DB79-4A4B-9F00-E9AB8181A0B9}">
      <dgm:prSet/>
      <dgm:spPr/>
      <dgm:t>
        <a:bodyPr/>
        <a:lstStyle/>
        <a:p>
          <a:endParaRPr lang="en-CA"/>
        </a:p>
      </dgm:t>
    </dgm:pt>
    <dgm:pt modelId="{4FF71C3D-6E2B-4979-A77C-86A90497D172}" type="sibTrans" cxnId="{27123425-DB79-4A4B-9F00-E9AB8181A0B9}">
      <dgm:prSet/>
      <dgm:spPr/>
      <dgm:t>
        <a:bodyPr/>
        <a:lstStyle/>
        <a:p>
          <a:endParaRPr lang="en-CA"/>
        </a:p>
      </dgm:t>
    </dgm:pt>
    <dgm:pt modelId="{5F4F631F-6262-4BD3-8CAF-C489E38A4657}">
      <dgm:prSet phldrT="[Text]"/>
      <dgm:spPr/>
      <dgm:t>
        <a:bodyPr/>
        <a:lstStyle/>
        <a:p>
          <a:r>
            <a:rPr lang="en-US" dirty="0"/>
            <a:t> Needs more input data (size of transmission bottleneck, accumulated somatic variation during development and cell division, germline variation, </a:t>
          </a:r>
          <a:r>
            <a:rPr lang="en-US" i="1" dirty="0"/>
            <a:t>etc.</a:t>
          </a:r>
          <a:r>
            <a:rPr lang="en-US" dirty="0"/>
            <a:t>)</a:t>
          </a:r>
          <a:endParaRPr lang="en-CA" dirty="0"/>
        </a:p>
      </dgm:t>
    </dgm:pt>
    <dgm:pt modelId="{261A7EB9-1694-4A4D-8384-87BA694B5CF9}" type="parTrans" cxnId="{E02D3E5C-5BF5-44C1-B4A9-023BBB8DFBED}">
      <dgm:prSet/>
      <dgm:spPr/>
      <dgm:t>
        <a:bodyPr/>
        <a:lstStyle/>
        <a:p>
          <a:endParaRPr lang="en-CA"/>
        </a:p>
      </dgm:t>
    </dgm:pt>
    <dgm:pt modelId="{EB476ED6-BAA7-40B1-B69A-BFB743F7E5EC}" type="sibTrans" cxnId="{E02D3E5C-5BF5-44C1-B4A9-023BBB8DFBED}">
      <dgm:prSet/>
      <dgm:spPr/>
      <dgm:t>
        <a:bodyPr/>
        <a:lstStyle/>
        <a:p>
          <a:endParaRPr lang="en-CA"/>
        </a:p>
      </dgm:t>
    </dgm:pt>
    <dgm:pt modelId="{6AFA2DA9-4C12-4A40-B301-7603D0A7B0D6}" type="pres">
      <dgm:prSet presAssocID="{51CC3642-673F-4EF0-9B16-C5485ED5F43B}" presName="Name0" presStyleCnt="0">
        <dgm:presLayoutVars>
          <dgm:dir/>
          <dgm:animLvl val="lvl"/>
          <dgm:resizeHandles val="exact"/>
        </dgm:presLayoutVars>
      </dgm:prSet>
      <dgm:spPr/>
    </dgm:pt>
    <dgm:pt modelId="{B065795D-E1B2-4399-A823-D3F04ED942AC}" type="pres">
      <dgm:prSet presAssocID="{356B3C4C-F306-4E5A-BE4D-C4A084376DAB}" presName="linNode" presStyleCnt="0"/>
      <dgm:spPr/>
    </dgm:pt>
    <dgm:pt modelId="{5C60DEA8-C37C-463F-A613-403F2031BADD}" type="pres">
      <dgm:prSet presAssocID="{356B3C4C-F306-4E5A-BE4D-C4A084376DAB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72F747A2-6CCE-49BB-8500-6B364649A0AD}" type="pres">
      <dgm:prSet presAssocID="{356B3C4C-F306-4E5A-BE4D-C4A084376DAB}" presName="descendantText" presStyleLbl="alignAccFollowNode1" presStyleIdx="0" presStyleCnt="3">
        <dgm:presLayoutVars>
          <dgm:bulletEnabled val="1"/>
        </dgm:presLayoutVars>
      </dgm:prSet>
      <dgm:spPr/>
    </dgm:pt>
    <dgm:pt modelId="{FFBF4B1C-7A8D-4CAE-A8CC-2E6F45C30FCF}" type="pres">
      <dgm:prSet presAssocID="{F94F8884-0A9D-4365-BFA4-F2A9F034B633}" presName="sp" presStyleCnt="0"/>
      <dgm:spPr/>
    </dgm:pt>
    <dgm:pt modelId="{3E279E92-2A34-40A4-A4BF-E9A7C6E3D9CD}" type="pres">
      <dgm:prSet presAssocID="{C6A07398-DD79-4B32-9868-EFD8ED0CBB0B}" presName="linNode" presStyleCnt="0"/>
      <dgm:spPr/>
    </dgm:pt>
    <dgm:pt modelId="{012BC7FA-BCC0-4F4E-A787-2B5BBF1D9432}" type="pres">
      <dgm:prSet presAssocID="{C6A07398-DD79-4B32-9868-EFD8ED0CBB0B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B981BB4F-D4D6-447C-84BD-D99C5430DCAC}" type="pres">
      <dgm:prSet presAssocID="{C6A07398-DD79-4B32-9868-EFD8ED0CBB0B}" presName="descendantText" presStyleLbl="alignAccFollowNode1" presStyleIdx="1" presStyleCnt="3">
        <dgm:presLayoutVars>
          <dgm:bulletEnabled val="1"/>
        </dgm:presLayoutVars>
      </dgm:prSet>
      <dgm:spPr/>
    </dgm:pt>
    <dgm:pt modelId="{A208ED4A-1070-476D-9BA8-4B267DB5CCD2}" type="pres">
      <dgm:prSet presAssocID="{B4C2CF55-AEC8-41A8-977D-FE2A507876D0}" presName="sp" presStyleCnt="0"/>
      <dgm:spPr/>
    </dgm:pt>
    <dgm:pt modelId="{9C1C542E-4FCF-4974-8A6F-625E7D85DE8F}" type="pres">
      <dgm:prSet presAssocID="{817F15C6-0549-441D-A3E6-248D0F8514FD}" presName="linNode" presStyleCnt="0"/>
      <dgm:spPr/>
    </dgm:pt>
    <dgm:pt modelId="{F398CA34-D7E8-487C-AFC2-E73750094E75}" type="pres">
      <dgm:prSet presAssocID="{817F15C6-0549-441D-A3E6-248D0F8514FD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FF9F26D8-914B-4AA0-B0DB-F42BE0E298FF}" type="pres">
      <dgm:prSet presAssocID="{817F15C6-0549-441D-A3E6-248D0F8514FD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94EA5A0A-DF69-4006-B16D-DF9877371DA4}" srcId="{356B3C4C-F306-4E5A-BE4D-C4A084376DAB}" destId="{7882AF55-D325-4351-84AA-A49606754973}" srcOrd="1" destOrd="0" parTransId="{B799EAC3-B000-4B15-860B-F23F0A45EA3E}" sibTransId="{A5A98D23-31C6-45A8-9161-A2CC204F39D5}"/>
    <dgm:cxn modelId="{A6D5FF15-A2B2-4DC6-82B0-273FA60E5CE3}" type="presOf" srcId="{88D28BE4-6AC7-42E5-ACC8-FADA58358865}" destId="{B981BB4F-D4D6-447C-84BD-D99C5430DCAC}" srcOrd="0" destOrd="0" presId="urn:microsoft.com/office/officeart/2005/8/layout/vList5"/>
    <dgm:cxn modelId="{8ECCC717-C228-420D-8846-58D5C7A274F0}" srcId="{51CC3642-673F-4EF0-9B16-C5485ED5F43B}" destId="{356B3C4C-F306-4E5A-BE4D-C4A084376DAB}" srcOrd="0" destOrd="0" parTransId="{907565F9-326F-40BD-8737-361BD5BF91C8}" sibTransId="{F94F8884-0A9D-4365-BFA4-F2A9F034B633}"/>
    <dgm:cxn modelId="{27123425-DB79-4A4B-9F00-E9AB8181A0B9}" srcId="{817F15C6-0549-441D-A3E6-248D0F8514FD}" destId="{DE4060D2-BB6E-42D6-8271-D46D70D928CA}" srcOrd="0" destOrd="0" parTransId="{A0469AE0-9BBE-4A02-9DF4-461226B6218C}" sibTransId="{4FF71C3D-6E2B-4979-A77C-86A90497D172}"/>
    <dgm:cxn modelId="{F0FEA22D-5FCA-4F23-BF0C-1933489931D7}" type="presOf" srcId="{817F15C6-0549-441D-A3E6-248D0F8514FD}" destId="{F398CA34-D7E8-487C-AFC2-E73750094E75}" srcOrd="0" destOrd="0" presId="urn:microsoft.com/office/officeart/2005/8/layout/vList5"/>
    <dgm:cxn modelId="{3851B82F-4BCB-42F7-B0F1-497C5A70513D}" type="presOf" srcId="{DE4060D2-BB6E-42D6-8271-D46D70D928CA}" destId="{FF9F26D8-914B-4AA0-B0DB-F42BE0E298FF}" srcOrd="0" destOrd="0" presId="urn:microsoft.com/office/officeart/2005/8/layout/vList5"/>
    <dgm:cxn modelId="{E02D3E5C-5BF5-44C1-B4A9-023BBB8DFBED}" srcId="{817F15C6-0549-441D-A3E6-248D0F8514FD}" destId="{5F4F631F-6262-4BD3-8CAF-C489E38A4657}" srcOrd="1" destOrd="0" parTransId="{261A7EB9-1694-4A4D-8384-87BA694B5CF9}" sibTransId="{EB476ED6-BAA7-40B1-B69A-BFB743F7E5EC}"/>
    <dgm:cxn modelId="{29799243-1736-42D2-9850-6B3FE2CB2887}" type="presOf" srcId="{C6A07398-DD79-4B32-9868-EFD8ED0CBB0B}" destId="{012BC7FA-BCC0-4F4E-A787-2B5BBF1D9432}" srcOrd="0" destOrd="0" presId="urn:microsoft.com/office/officeart/2005/8/layout/vList5"/>
    <dgm:cxn modelId="{49E8A964-5241-4482-86D4-06432E713D35}" type="presOf" srcId="{51CC3642-673F-4EF0-9B16-C5485ED5F43B}" destId="{6AFA2DA9-4C12-4A40-B301-7603D0A7B0D6}" srcOrd="0" destOrd="0" presId="urn:microsoft.com/office/officeart/2005/8/layout/vList5"/>
    <dgm:cxn modelId="{745B0C80-D38E-4499-A014-CA35352C9C05}" srcId="{C6A07398-DD79-4B32-9868-EFD8ED0CBB0B}" destId="{88D28BE4-6AC7-42E5-ACC8-FADA58358865}" srcOrd="0" destOrd="0" parTransId="{C8143421-8AE9-49C6-A53A-A95D2353D46C}" sibTransId="{74858856-542F-4694-8632-9F53D5DB2885}"/>
    <dgm:cxn modelId="{DCAF6B82-DDC7-4D9E-B142-7274F852DB40}" srcId="{51CC3642-673F-4EF0-9B16-C5485ED5F43B}" destId="{C6A07398-DD79-4B32-9868-EFD8ED0CBB0B}" srcOrd="1" destOrd="0" parTransId="{5691C23C-00CA-4EE4-A345-D4A5C2ECB1BF}" sibTransId="{B4C2CF55-AEC8-41A8-977D-FE2A507876D0}"/>
    <dgm:cxn modelId="{1DAB6A8D-1988-4815-9B8A-E2C99821F376}" type="presOf" srcId="{78BF5AF1-BD72-4FC7-9DCB-2B78920CDDDD}" destId="{72F747A2-6CCE-49BB-8500-6B364649A0AD}" srcOrd="0" destOrd="0" presId="urn:microsoft.com/office/officeart/2005/8/layout/vList5"/>
    <dgm:cxn modelId="{EB691D9B-2F8F-46CE-A896-4906D4213E07}" type="presOf" srcId="{43108BB9-2AC5-4F44-A66D-B5A5373C34A0}" destId="{B981BB4F-D4D6-447C-84BD-D99C5430DCAC}" srcOrd="0" destOrd="1" presId="urn:microsoft.com/office/officeart/2005/8/layout/vList5"/>
    <dgm:cxn modelId="{4F4032B5-9FB9-4BD1-9C88-342C6AF46F01}" type="presOf" srcId="{5F4F631F-6262-4BD3-8CAF-C489E38A4657}" destId="{FF9F26D8-914B-4AA0-B0DB-F42BE0E298FF}" srcOrd="0" destOrd="1" presId="urn:microsoft.com/office/officeart/2005/8/layout/vList5"/>
    <dgm:cxn modelId="{8DEFFEB9-73E3-4A24-88FC-F5955E29D2CA}" type="presOf" srcId="{7882AF55-D325-4351-84AA-A49606754973}" destId="{72F747A2-6CCE-49BB-8500-6B364649A0AD}" srcOrd="0" destOrd="1" presId="urn:microsoft.com/office/officeart/2005/8/layout/vList5"/>
    <dgm:cxn modelId="{B0EC32D3-9950-4215-98D2-2EC632A2F3E5}" srcId="{51CC3642-673F-4EF0-9B16-C5485ED5F43B}" destId="{817F15C6-0549-441D-A3E6-248D0F8514FD}" srcOrd="2" destOrd="0" parTransId="{830519F3-6778-4A33-BBE7-01D3A25FABB8}" sibTransId="{8BC4F994-A9B1-465C-9A38-B607474D8E37}"/>
    <dgm:cxn modelId="{843D58E0-3E70-4401-9A0A-520A146CDFC6}" srcId="{356B3C4C-F306-4E5A-BE4D-C4A084376DAB}" destId="{78BF5AF1-BD72-4FC7-9DCB-2B78920CDDDD}" srcOrd="0" destOrd="0" parTransId="{1FA5433E-CF4C-436B-B614-778DCE9325C9}" sibTransId="{BEB51E2C-9406-4C78-9066-7A32E1AECE68}"/>
    <dgm:cxn modelId="{2CFFB6EE-D51E-417D-BF87-C40315DEF1FA}" srcId="{C6A07398-DD79-4B32-9868-EFD8ED0CBB0B}" destId="{43108BB9-2AC5-4F44-A66D-B5A5373C34A0}" srcOrd="1" destOrd="0" parTransId="{719B593E-8152-4DEC-80C2-7F21553B65CB}" sibTransId="{4BFB8EA5-D7C7-44C4-B898-D69B505FB393}"/>
    <dgm:cxn modelId="{2F1560FD-69A3-408D-9EAE-1E0FC7AFE930}" type="presOf" srcId="{356B3C4C-F306-4E5A-BE4D-C4A084376DAB}" destId="{5C60DEA8-C37C-463F-A613-403F2031BADD}" srcOrd="0" destOrd="0" presId="urn:microsoft.com/office/officeart/2005/8/layout/vList5"/>
    <dgm:cxn modelId="{0649F835-3400-4DDE-AE3B-6D326924E565}" type="presParOf" srcId="{6AFA2DA9-4C12-4A40-B301-7603D0A7B0D6}" destId="{B065795D-E1B2-4399-A823-D3F04ED942AC}" srcOrd="0" destOrd="0" presId="urn:microsoft.com/office/officeart/2005/8/layout/vList5"/>
    <dgm:cxn modelId="{49FA59D1-E455-41D6-BE8C-0DDDED3BF67A}" type="presParOf" srcId="{B065795D-E1B2-4399-A823-D3F04ED942AC}" destId="{5C60DEA8-C37C-463F-A613-403F2031BADD}" srcOrd="0" destOrd="0" presId="urn:microsoft.com/office/officeart/2005/8/layout/vList5"/>
    <dgm:cxn modelId="{5E2AA02F-B149-470B-A306-6D108CAA9BB7}" type="presParOf" srcId="{B065795D-E1B2-4399-A823-D3F04ED942AC}" destId="{72F747A2-6CCE-49BB-8500-6B364649A0AD}" srcOrd="1" destOrd="0" presId="urn:microsoft.com/office/officeart/2005/8/layout/vList5"/>
    <dgm:cxn modelId="{A50FBD38-2FE1-4339-98CD-CF4DC55C5BD6}" type="presParOf" srcId="{6AFA2DA9-4C12-4A40-B301-7603D0A7B0D6}" destId="{FFBF4B1C-7A8D-4CAE-A8CC-2E6F45C30FCF}" srcOrd="1" destOrd="0" presId="urn:microsoft.com/office/officeart/2005/8/layout/vList5"/>
    <dgm:cxn modelId="{1156954C-40D1-4606-9285-9708C526188F}" type="presParOf" srcId="{6AFA2DA9-4C12-4A40-B301-7603D0A7B0D6}" destId="{3E279E92-2A34-40A4-A4BF-E9A7C6E3D9CD}" srcOrd="2" destOrd="0" presId="urn:microsoft.com/office/officeart/2005/8/layout/vList5"/>
    <dgm:cxn modelId="{C7186ED7-A5D3-41C2-936D-48927F75E8D0}" type="presParOf" srcId="{3E279E92-2A34-40A4-A4BF-E9A7C6E3D9CD}" destId="{012BC7FA-BCC0-4F4E-A787-2B5BBF1D9432}" srcOrd="0" destOrd="0" presId="urn:microsoft.com/office/officeart/2005/8/layout/vList5"/>
    <dgm:cxn modelId="{9B0507FF-CCFF-41D8-BF03-7CB4124CCCE3}" type="presParOf" srcId="{3E279E92-2A34-40A4-A4BF-E9A7C6E3D9CD}" destId="{B981BB4F-D4D6-447C-84BD-D99C5430DCAC}" srcOrd="1" destOrd="0" presId="urn:microsoft.com/office/officeart/2005/8/layout/vList5"/>
    <dgm:cxn modelId="{C7903C2D-D6A7-4A2F-9EBA-A4059A62F379}" type="presParOf" srcId="{6AFA2DA9-4C12-4A40-B301-7603D0A7B0D6}" destId="{A208ED4A-1070-476D-9BA8-4B267DB5CCD2}" srcOrd="3" destOrd="0" presId="urn:microsoft.com/office/officeart/2005/8/layout/vList5"/>
    <dgm:cxn modelId="{BD9ADE57-E307-4840-8A41-A911F107FD85}" type="presParOf" srcId="{6AFA2DA9-4C12-4A40-B301-7603D0A7B0D6}" destId="{9C1C542E-4FCF-4974-8A6F-625E7D85DE8F}" srcOrd="4" destOrd="0" presId="urn:microsoft.com/office/officeart/2005/8/layout/vList5"/>
    <dgm:cxn modelId="{01E62E86-133B-4C89-94C6-42944EADC841}" type="presParOf" srcId="{9C1C542E-4FCF-4974-8A6F-625E7D85DE8F}" destId="{F398CA34-D7E8-487C-AFC2-E73750094E75}" srcOrd="0" destOrd="0" presId="urn:microsoft.com/office/officeart/2005/8/layout/vList5"/>
    <dgm:cxn modelId="{73191F47-2F15-4BF2-BCB9-7C49DA3BA3C6}" type="presParOf" srcId="{9C1C542E-4FCF-4974-8A6F-625E7D85DE8F}" destId="{FF9F26D8-914B-4AA0-B0DB-F42BE0E298FF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F747A2-6CCE-49BB-8500-6B364649A0AD}">
      <dsp:nvSpPr>
        <dsp:cNvPr id="0" name=""/>
        <dsp:cNvSpPr/>
      </dsp:nvSpPr>
      <dsp:spPr>
        <a:xfrm rot="5400000">
          <a:off x="6217015" y="-2437958"/>
          <a:ext cx="1245393" cy="6437376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 Sample specific rate statistical significance (blood vs cheek)</a:t>
          </a:r>
          <a:endParaRPr lang="en-CA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 Histogram statistical significance (T and KS Tests)</a:t>
          </a:r>
          <a:endParaRPr lang="en-CA" sz="1400" kern="1200" dirty="0"/>
        </a:p>
      </dsp:txBody>
      <dsp:txXfrm rot="-5400000">
        <a:off x="3621024" y="218828"/>
        <a:ext cx="6376581" cy="1123803"/>
      </dsp:txXfrm>
    </dsp:sp>
    <dsp:sp modelId="{5C60DEA8-C37C-463F-A613-403F2031BADD}">
      <dsp:nvSpPr>
        <dsp:cNvPr id="0" name=""/>
        <dsp:cNvSpPr/>
      </dsp:nvSpPr>
      <dsp:spPr>
        <a:xfrm>
          <a:off x="0" y="2358"/>
          <a:ext cx="3621024" cy="155674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57150" rIns="114300" bIns="571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Statistical Power</a:t>
          </a:r>
          <a:endParaRPr lang="en-CA" sz="3000" kern="1200" dirty="0"/>
        </a:p>
      </dsp:txBody>
      <dsp:txXfrm>
        <a:off x="75994" y="78352"/>
        <a:ext cx="3469036" cy="1404754"/>
      </dsp:txXfrm>
    </dsp:sp>
    <dsp:sp modelId="{B981BB4F-D4D6-447C-84BD-D99C5430DCAC}">
      <dsp:nvSpPr>
        <dsp:cNvPr id="0" name=""/>
        <dsp:cNvSpPr/>
      </dsp:nvSpPr>
      <dsp:spPr>
        <a:xfrm rot="5400000">
          <a:off x="6217015" y="-803379"/>
          <a:ext cx="1245393" cy="6437376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 Apply a Poisson random field approximation from </a:t>
          </a:r>
          <a:r>
            <a:rPr lang="en-US" sz="1400" kern="1200" dirty="0" err="1"/>
            <a:t>Mugal</a:t>
          </a:r>
          <a:r>
            <a:rPr lang="en-US" sz="1400" kern="1200" dirty="0"/>
            <a:t> et al. to “evolution rate” used in timescale approximations</a:t>
          </a:r>
          <a:endParaRPr lang="en-CA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 Account for polymorphism conflation of pedigree-based rate estimates</a:t>
          </a:r>
          <a:endParaRPr lang="en-CA" sz="1400" kern="1200" dirty="0"/>
        </a:p>
      </dsp:txBody>
      <dsp:txXfrm rot="-5400000">
        <a:off x="3621024" y="1853407"/>
        <a:ext cx="6376581" cy="1123803"/>
      </dsp:txXfrm>
    </dsp:sp>
    <dsp:sp modelId="{012BC7FA-BCC0-4F4E-A787-2B5BBF1D9432}">
      <dsp:nvSpPr>
        <dsp:cNvPr id="0" name=""/>
        <dsp:cNvSpPr/>
      </dsp:nvSpPr>
      <dsp:spPr>
        <a:xfrm>
          <a:off x="0" y="1636937"/>
          <a:ext cx="3621024" cy="155674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57150" rIns="114300" bIns="571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Polymorphism Consideration</a:t>
          </a:r>
          <a:endParaRPr lang="en-CA" sz="3000" kern="1200" dirty="0"/>
        </a:p>
      </dsp:txBody>
      <dsp:txXfrm>
        <a:off x="75994" y="1712931"/>
        <a:ext cx="3469036" cy="1404754"/>
      </dsp:txXfrm>
    </dsp:sp>
    <dsp:sp modelId="{FF9F26D8-914B-4AA0-B0DB-F42BE0E298FF}">
      <dsp:nvSpPr>
        <dsp:cNvPr id="0" name=""/>
        <dsp:cNvSpPr/>
      </dsp:nvSpPr>
      <dsp:spPr>
        <a:xfrm rot="5400000">
          <a:off x="6217015" y="831200"/>
          <a:ext cx="1245393" cy="6437376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400" kern="1200" dirty="0"/>
            <a:t> To understand detection of </a:t>
          </a:r>
          <a:r>
            <a:rPr lang="en-CA" sz="1400" i="1" kern="1200" dirty="0"/>
            <a:t>de novo </a:t>
          </a:r>
          <a:r>
            <a:rPr lang="en-CA" sz="1400" kern="1200" dirty="0"/>
            <a:t>variants vs inherited variation.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 Needs more input data (size of transmission bottleneck, accumulated somatic variation during development and cell division, germline variation, </a:t>
          </a:r>
          <a:r>
            <a:rPr lang="en-US" sz="1400" i="1" kern="1200" dirty="0"/>
            <a:t>etc.</a:t>
          </a:r>
          <a:r>
            <a:rPr lang="en-US" sz="1400" kern="1200" dirty="0"/>
            <a:t>)</a:t>
          </a:r>
          <a:endParaRPr lang="en-CA" sz="1400" kern="1200" dirty="0"/>
        </a:p>
      </dsp:txBody>
      <dsp:txXfrm rot="-5400000">
        <a:off x="3621024" y="3487987"/>
        <a:ext cx="6376581" cy="1123803"/>
      </dsp:txXfrm>
    </dsp:sp>
    <dsp:sp modelId="{F398CA34-D7E8-487C-AFC2-E73750094E75}">
      <dsp:nvSpPr>
        <dsp:cNvPr id="0" name=""/>
        <dsp:cNvSpPr/>
      </dsp:nvSpPr>
      <dsp:spPr>
        <a:xfrm>
          <a:off x="0" y="3271517"/>
          <a:ext cx="3621024" cy="155674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57150" rIns="114300" bIns="571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000" kern="1200" dirty="0"/>
            <a:t>Explicit Mechanistic Simulations </a:t>
          </a:r>
        </a:p>
      </dsp:txBody>
      <dsp:txXfrm>
        <a:off x="75994" y="3347511"/>
        <a:ext cx="3469036" cy="14047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914081-A62E-4FCD-BF83-BB40F0B0A0B7}" type="datetimeFigureOut">
              <a:rPr lang="en-CA" smtClean="0"/>
              <a:t>2022-04-07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683E86-1AB6-4E8F-848F-8C7C162B4CB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30760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CAD92A-A10B-4ADE-BF27-CB908CF59AAD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0387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683E86-1AB6-4E8F-848F-8C7C162B4CB3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64960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683E86-1AB6-4E8F-848F-8C7C162B4CB3}" type="slidenum">
              <a:rPr lang="en-CA" smtClean="0"/>
              <a:t>21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138390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Dehydrogenzae</a:t>
            </a:r>
            <a:r>
              <a:rPr lang="en-US" dirty="0"/>
              <a:t> at 12k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683E86-1AB6-4E8F-848F-8C7C162B4CB3}" type="slidenum">
              <a:rPr lang="en-CA" smtClean="0"/>
              <a:t>25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131730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Dehydrogenzae</a:t>
            </a:r>
            <a:r>
              <a:rPr lang="en-US" dirty="0"/>
              <a:t> at 12k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683E86-1AB6-4E8F-848F-8C7C162B4CB3}" type="slidenum">
              <a:rPr lang="en-CA" smtClean="0"/>
              <a:t>26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20809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4/7/2022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770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4/7/2022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708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4/7/2022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071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4/7/2022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4672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4/7/2022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9960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4/7/2022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413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4/7/2022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7247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4/7/2022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602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4/7/2022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8223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4/7/2022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57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65" r:id="rId5"/>
    <p:sldLayoutId id="2147483671" r:id="rId6"/>
    <p:sldLayoutId id="2147483672" r:id="rId7"/>
    <p:sldLayoutId id="2147483662" r:id="rId8"/>
    <p:sldLayoutId id="2147483663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bstract image">
            <a:extLst>
              <a:ext uri="{FF2B5EF4-FFF2-40B4-BE49-F238E27FC236}">
                <a16:creationId xmlns:a16="http://schemas.microsoft.com/office/drawing/2014/main" id="{8045422F-7258-40AC-BD2E-2469AA4489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82" name="Rectangle 81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5067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61010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3793" y="2355458"/>
            <a:ext cx="4775075" cy="163090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HETEROPLASMY IN HUMAN MITOCHONDRIAL GENOME MUTATION RATES DIFFERENCES. </a:t>
            </a:r>
            <a:endParaRPr lang="en-CA" sz="28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33793" y="3995988"/>
            <a:ext cx="4775075" cy="55965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Keaton Banik</a:t>
            </a:r>
          </a:p>
        </p:txBody>
      </p:sp>
    </p:spTree>
    <p:extLst>
      <p:ext uri="{BB962C8B-B14F-4D97-AF65-F5344CB8AC3E}">
        <p14:creationId xmlns:p14="http://schemas.microsoft.com/office/powerpoint/2010/main" val="25842807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F3A73-D920-4C68-A39B-0B72803D8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Mitochondria Background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131E0-B76F-4898-AA67-750F1FC0BB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4587380" cy="3849624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200000"/>
              </a:lnSpc>
            </a:pPr>
            <a:r>
              <a:rPr lang="en-US" sz="2000" dirty="0"/>
              <a:t>Make ATP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Immunity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Apoptosis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Cell Signaling</a:t>
            </a:r>
          </a:p>
          <a:p>
            <a:pPr>
              <a:lnSpc>
                <a:spcPct val="200000"/>
              </a:lnSpc>
            </a:pPr>
            <a:r>
              <a:rPr lang="en-CA" sz="2000" b="1" dirty="0"/>
              <a:t>SEPARATE GENOME</a:t>
            </a:r>
          </a:p>
          <a:p>
            <a:pPr lvl="1">
              <a:lnSpc>
                <a:spcPct val="200000"/>
              </a:lnSpc>
            </a:pPr>
            <a:r>
              <a:rPr lang="en-CA" sz="1800" dirty="0"/>
              <a:t>Many Copies (NOT 2n)</a:t>
            </a:r>
          </a:p>
        </p:txBody>
      </p:sp>
      <p:pic>
        <p:nvPicPr>
          <p:cNvPr id="1028" name="Picture 4" descr="Figure 2. Mitotic segregation of mtDNA. A single mutational event creates heteroplasmy in a cell, but the level of mutated mtDNA (red dots) is very low in comparison with normal mtDNA (green dots). There is no synchronization between cell division and mtDNA replication, and a particular mtDNA molecule may be replicated many times or not at all during a single cell cycle. Repeated cell division will lead to mitotic segregation of normal and mutated mtDNA, and accumulation of mutated mtDNA above a certain threshold level will lead to impaired respiratory chain function.">
            <a:extLst>
              <a:ext uri="{FF2B5EF4-FFF2-40B4-BE49-F238E27FC236}">
                <a16:creationId xmlns:a16="http://schemas.microsoft.com/office/drawing/2014/main" id="{423BB22B-D915-4C0C-9F54-886EE505E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8875" y="2103120"/>
            <a:ext cx="6876325" cy="3517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3E69BF2-7FC9-4E1E-A5C5-655DBB8C695A}"/>
              </a:ext>
            </a:extLst>
          </p:cNvPr>
          <p:cNvSpPr txBox="1"/>
          <p:nvPr/>
        </p:nvSpPr>
        <p:spPr>
          <a:xfrm>
            <a:off x="8590329" y="5780459"/>
            <a:ext cx="2323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CA" sz="900" b="0" i="0" dirty="0">
                <a:effectLst/>
                <a:latin typeface="Arial" panose="020B0604020202020204" pitchFamily="34" charset="0"/>
              </a:rPr>
              <a:t>Park C B , and Larsson N J Cell Biol 2011</a:t>
            </a:r>
          </a:p>
          <a:p>
            <a:endParaRPr lang="en-CA" sz="900" dirty="0"/>
          </a:p>
        </p:txBody>
      </p:sp>
    </p:spTree>
    <p:extLst>
      <p:ext uri="{BB962C8B-B14F-4D97-AF65-F5344CB8AC3E}">
        <p14:creationId xmlns:p14="http://schemas.microsoft.com/office/powerpoint/2010/main" val="2440179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DF69A-B3AF-4A22-9262-5091DB725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Heteroplasmy</a:t>
            </a:r>
            <a:endParaRPr lang="en-C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6D8AFC-150E-46BA-9914-EDBC1D1D6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2328" y="2613450"/>
            <a:ext cx="4663440" cy="224428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Mix of many variants of </a:t>
            </a:r>
            <a:r>
              <a:rPr lang="en-US" dirty="0" err="1"/>
              <a:t>mtDNA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Mutant and wildtype </a:t>
            </a:r>
            <a:r>
              <a:rPr lang="en-US" dirty="0" err="1"/>
              <a:t>mtDNA</a:t>
            </a:r>
            <a:r>
              <a:rPr lang="en-US" dirty="0"/>
              <a:t> exist in cells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Seen in </a:t>
            </a:r>
            <a:r>
              <a:rPr lang="en-US" dirty="0" err="1"/>
              <a:t>mtDNA</a:t>
            </a:r>
            <a:r>
              <a:rPr lang="en-US" dirty="0"/>
              <a:t> disease (% = severity)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Asymptomatic Mother can pass on variant to children</a:t>
            </a:r>
          </a:p>
          <a:p>
            <a:pPr lvl="1"/>
            <a:endParaRPr lang="en-CA" dirty="0"/>
          </a:p>
        </p:txBody>
      </p:sp>
      <p:pic>
        <p:nvPicPr>
          <p:cNvPr id="9" name="Picture 8" descr="Diagram&#10;&#10;Description automatically generated">
            <a:extLst>
              <a:ext uri="{FF2B5EF4-FFF2-40B4-BE49-F238E27FC236}">
                <a16:creationId xmlns:a16="http://schemas.microsoft.com/office/drawing/2014/main" id="{90F1DDD9-0E2B-4FE4-9EFA-34D8328716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9389" y="2014194"/>
            <a:ext cx="5711555" cy="34427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16AF7B5-1864-4AD6-89BC-6A6F5ADFCAF4}"/>
              </a:ext>
            </a:extLst>
          </p:cNvPr>
          <p:cNvSpPr txBox="1"/>
          <p:nvPr/>
        </p:nvSpPr>
        <p:spPr>
          <a:xfrm>
            <a:off x="2006988" y="6478085"/>
            <a:ext cx="28941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800" dirty="0"/>
              <a:t>https://www.zmescience.com/other/science-abc/about-mitochondrial-dna-42423/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A2D511-46CD-4C0E-8035-2CEF96F04360}"/>
              </a:ext>
            </a:extLst>
          </p:cNvPr>
          <p:cNvSpPr txBox="1"/>
          <p:nvPr/>
        </p:nvSpPr>
        <p:spPr>
          <a:xfrm>
            <a:off x="6547048" y="6478085"/>
            <a:ext cx="444350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800" dirty="0"/>
              <a:t>https://phys.org/news/2019-11-tracking-inheritance-human-mitochondrial-dna.html</a:t>
            </a:r>
          </a:p>
        </p:txBody>
      </p:sp>
    </p:spTree>
    <p:extLst>
      <p:ext uri="{BB962C8B-B14F-4D97-AF65-F5344CB8AC3E}">
        <p14:creationId xmlns:p14="http://schemas.microsoft.com/office/powerpoint/2010/main" val="2817454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B4C39-9152-440E-BD01-64B4F14B0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Evolution Rate Estimate Methods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71582F-59F2-4478-8FDF-8C192ED971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Pedigree</a:t>
            </a:r>
            <a:endParaRPr lang="en-CA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162F9B-58D6-4A0F-86D7-E040218A59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Phylogeny</a:t>
            </a:r>
            <a:endParaRPr lang="en-CA" dirty="0"/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FF1415F4-29FA-48C0-8819-186D91D9E69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22013" y="2842062"/>
            <a:ext cx="4759110" cy="2603049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AA050CC-34CB-4652-AE98-B9369EF2FB75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096000" y="2842062"/>
            <a:ext cx="5665816" cy="248845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BDDAE4A-B1C7-4074-BE60-D71552DBE7BA}"/>
              </a:ext>
            </a:extLst>
          </p:cNvPr>
          <p:cNvSpPr txBox="1"/>
          <p:nvPr/>
        </p:nvSpPr>
        <p:spPr>
          <a:xfrm>
            <a:off x="6095999" y="5330521"/>
            <a:ext cx="57827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0" i="0" dirty="0">
                <a:solidFill>
                  <a:srgbClr val="212121"/>
                </a:solidFill>
                <a:effectLst/>
                <a:latin typeface="BlinkMacSystemFont"/>
              </a:rPr>
              <a:t>Ho, S. Y., Phillips, M. J., Cooper, A., &amp; Drummond, A. J. (2005). Time dependency of molecular rate estimates and systematic overestimation of recent divergence times. </a:t>
            </a:r>
            <a:r>
              <a:rPr lang="en-US" sz="800" b="0" i="1" dirty="0">
                <a:solidFill>
                  <a:srgbClr val="212121"/>
                </a:solidFill>
                <a:effectLst/>
                <a:latin typeface="BlinkMacSystemFont"/>
              </a:rPr>
              <a:t>Molecular biology and evolution</a:t>
            </a:r>
            <a:r>
              <a:rPr lang="en-US" sz="800" b="0" i="0" dirty="0">
                <a:solidFill>
                  <a:srgbClr val="212121"/>
                </a:solidFill>
                <a:effectLst/>
                <a:latin typeface="BlinkMacSystemFont"/>
              </a:rPr>
              <a:t>, </a:t>
            </a:r>
            <a:r>
              <a:rPr lang="en-US" sz="800" b="0" i="1" dirty="0">
                <a:solidFill>
                  <a:srgbClr val="212121"/>
                </a:solidFill>
                <a:effectLst/>
                <a:latin typeface="BlinkMacSystemFont"/>
              </a:rPr>
              <a:t>22</a:t>
            </a:r>
            <a:r>
              <a:rPr lang="en-US" sz="800" b="0" i="0" dirty="0">
                <a:solidFill>
                  <a:srgbClr val="212121"/>
                </a:solidFill>
                <a:effectLst/>
                <a:latin typeface="BlinkMacSystemFont"/>
              </a:rPr>
              <a:t>(7), 1561–1568. </a:t>
            </a:r>
            <a:endParaRPr lang="en-CA" sz="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667667-50B9-4775-9FE5-AB8BE2DC422F}"/>
              </a:ext>
            </a:extLst>
          </p:cNvPr>
          <p:cNvSpPr txBox="1"/>
          <p:nvPr/>
        </p:nvSpPr>
        <p:spPr>
          <a:xfrm>
            <a:off x="951672" y="5445111"/>
            <a:ext cx="48294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0" i="0" dirty="0" err="1">
                <a:solidFill>
                  <a:srgbClr val="212121"/>
                </a:solidFill>
                <a:effectLst/>
                <a:latin typeface="BlinkMacSystemFont"/>
              </a:rPr>
              <a:t>Sigurğardóttir</a:t>
            </a:r>
            <a:r>
              <a:rPr lang="en-US" sz="800" b="0" i="0" dirty="0">
                <a:solidFill>
                  <a:srgbClr val="212121"/>
                </a:solidFill>
                <a:effectLst/>
                <a:latin typeface="BlinkMacSystemFont"/>
              </a:rPr>
              <a:t>, S., </a:t>
            </a:r>
            <a:r>
              <a:rPr lang="en-US" sz="800" b="0" i="0" dirty="0" err="1">
                <a:solidFill>
                  <a:srgbClr val="212121"/>
                </a:solidFill>
                <a:effectLst/>
                <a:latin typeface="BlinkMacSystemFont"/>
              </a:rPr>
              <a:t>Helgason</a:t>
            </a:r>
            <a:r>
              <a:rPr lang="en-US" sz="800" b="0" i="0" dirty="0">
                <a:solidFill>
                  <a:srgbClr val="212121"/>
                </a:solidFill>
                <a:effectLst/>
                <a:latin typeface="BlinkMacSystemFont"/>
              </a:rPr>
              <a:t>, A., </a:t>
            </a:r>
            <a:r>
              <a:rPr lang="en-US" sz="800" b="0" i="0" dirty="0" err="1">
                <a:solidFill>
                  <a:srgbClr val="212121"/>
                </a:solidFill>
                <a:effectLst/>
                <a:latin typeface="BlinkMacSystemFont"/>
              </a:rPr>
              <a:t>Gulcher</a:t>
            </a:r>
            <a:r>
              <a:rPr lang="en-US" sz="800" b="0" i="0" dirty="0">
                <a:solidFill>
                  <a:srgbClr val="212121"/>
                </a:solidFill>
                <a:effectLst/>
                <a:latin typeface="BlinkMacSystemFont"/>
              </a:rPr>
              <a:t>, J. R., Stefansson, K., &amp; Donnelly, P. (2000). The mutation rate in the human </a:t>
            </a:r>
            <a:r>
              <a:rPr lang="en-US" sz="800" b="0" i="0" dirty="0" err="1">
                <a:solidFill>
                  <a:srgbClr val="212121"/>
                </a:solidFill>
                <a:effectLst/>
                <a:latin typeface="BlinkMacSystemFont"/>
              </a:rPr>
              <a:t>mtDNA</a:t>
            </a:r>
            <a:r>
              <a:rPr lang="en-US" sz="800" b="0" i="0" dirty="0">
                <a:solidFill>
                  <a:srgbClr val="212121"/>
                </a:solidFill>
                <a:effectLst/>
                <a:latin typeface="BlinkMacSystemFont"/>
              </a:rPr>
              <a:t> control region. </a:t>
            </a:r>
            <a:r>
              <a:rPr lang="en-US" sz="800" b="0" i="1" dirty="0">
                <a:solidFill>
                  <a:srgbClr val="212121"/>
                </a:solidFill>
                <a:effectLst/>
                <a:latin typeface="BlinkMacSystemFont"/>
              </a:rPr>
              <a:t>American journal of human genetics</a:t>
            </a:r>
            <a:r>
              <a:rPr lang="en-US" sz="800" b="0" i="0" dirty="0">
                <a:solidFill>
                  <a:srgbClr val="212121"/>
                </a:solidFill>
                <a:effectLst/>
                <a:latin typeface="BlinkMacSystemFont"/>
              </a:rPr>
              <a:t>, </a:t>
            </a:r>
            <a:r>
              <a:rPr lang="en-US" sz="800" b="0" i="1" dirty="0">
                <a:solidFill>
                  <a:srgbClr val="212121"/>
                </a:solidFill>
                <a:effectLst/>
                <a:latin typeface="BlinkMacSystemFont"/>
              </a:rPr>
              <a:t>66</a:t>
            </a:r>
            <a:r>
              <a:rPr lang="en-US" sz="800" b="0" i="0" dirty="0">
                <a:solidFill>
                  <a:srgbClr val="212121"/>
                </a:solidFill>
                <a:effectLst/>
                <a:latin typeface="BlinkMacSystemFont"/>
              </a:rPr>
              <a:t>(5), 1599–1609. </a:t>
            </a:r>
            <a:endParaRPr lang="en-CA" sz="800" dirty="0"/>
          </a:p>
        </p:txBody>
      </p:sp>
    </p:spTree>
    <p:extLst>
      <p:ext uri="{BB962C8B-B14F-4D97-AF65-F5344CB8AC3E}">
        <p14:creationId xmlns:p14="http://schemas.microsoft.com/office/powerpoint/2010/main" val="3734568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C66A9-1DFD-4087-B9D7-CC48647C7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Controversy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B9E9A-026A-4A19-958B-677913712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513" y="2499230"/>
            <a:ext cx="6326037" cy="2806534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2600" dirty="0"/>
              <a:t>Mitochondria DNA differential mutation and substitution rates</a:t>
            </a:r>
          </a:p>
          <a:p>
            <a:pPr lvl="1">
              <a:lnSpc>
                <a:spcPct val="150000"/>
              </a:lnSpc>
            </a:pPr>
            <a:r>
              <a:rPr lang="en-US" sz="2300" dirty="0"/>
              <a:t>Phylogenetic</a:t>
            </a:r>
          </a:p>
          <a:p>
            <a:pPr lvl="2">
              <a:lnSpc>
                <a:spcPct val="150000"/>
              </a:lnSpc>
            </a:pPr>
            <a:r>
              <a:rPr lang="en-US" sz="2300" dirty="0"/>
              <a:t>Low Substitution Rate</a:t>
            </a:r>
          </a:p>
          <a:p>
            <a:pPr lvl="2">
              <a:lnSpc>
                <a:spcPct val="150000"/>
              </a:lnSpc>
            </a:pPr>
            <a:r>
              <a:rPr lang="en-US" sz="2300" dirty="0"/>
              <a:t>Long Timescale (high sequence time difference)</a:t>
            </a:r>
          </a:p>
          <a:p>
            <a:pPr lvl="1">
              <a:lnSpc>
                <a:spcPct val="150000"/>
              </a:lnSpc>
            </a:pPr>
            <a:r>
              <a:rPr lang="en-US" sz="2300" dirty="0"/>
              <a:t>Pedigree</a:t>
            </a:r>
          </a:p>
          <a:p>
            <a:pPr lvl="2">
              <a:lnSpc>
                <a:spcPct val="150000"/>
              </a:lnSpc>
            </a:pPr>
            <a:r>
              <a:rPr lang="en-US" sz="2300" dirty="0"/>
              <a:t>High Mutation Rate</a:t>
            </a:r>
          </a:p>
          <a:p>
            <a:pPr lvl="2">
              <a:lnSpc>
                <a:spcPct val="150000"/>
              </a:lnSpc>
            </a:pPr>
            <a:r>
              <a:rPr lang="en-US" sz="2300" dirty="0"/>
              <a:t>Short Timescale (short sequence time difference)</a:t>
            </a:r>
          </a:p>
          <a:p>
            <a:pPr lvl="2"/>
            <a:endParaRPr lang="en-US" sz="2300" dirty="0"/>
          </a:p>
          <a:p>
            <a:pPr lvl="2"/>
            <a:endParaRPr lang="en-US" sz="2300" dirty="0"/>
          </a:p>
          <a:p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4635EB-48DF-4AA5-A282-86F8C3B84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7750" y="2499230"/>
            <a:ext cx="3677163" cy="9145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DF5430-1501-4102-9114-A5D7CA9BB5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7750" y="3880548"/>
            <a:ext cx="3705742" cy="8954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0AEBFB-070E-4E3E-AABD-A3542663AA51}"/>
              </a:ext>
            </a:extLst>
          </p:cNvPr>
          <p:cNvSpPr txBox="1"/>
          <p:nvPr/>
        </p:nvSpPr>
        <p:spPr>
          <a:xfrm>
            <a:off x="7417750" y="2061105"/>
            <a:ext cx="3705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Phylogenetic: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64315A-DEA4-4C21-995E-C359CD1CE708}"/>
              </a:ext>
            </a:extLst>
          </p:cNvPr>
          <p:cNvSpPr txBox="1"/>
          <p:nvPr/>
        </p:nvSpPr>
        <p:spPr>
          <a:xfrm>
            <a:off x="7417750" y="3413758"/>
            <a:ext cx="3705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Pedigree: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FA7E8A-86BA-49CB-BBB6-558F34C37270}"/>
              </a:ext>
            </a:extLst>
          </p:cNvPr>
          <p:cNvSpPr txBox="1"/>
          <p:nvPr/>
        </p:nvSpPr>
        <p:spPr>
          <a:xfrm>
            <a:off x="7362550" y="4844099"/>
            <a:ext cx="37323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0" i="0" dirty="0" err="1">
                <a:solidFill>
                  <a:srgbClr val="212121"/>
                </a:solidFill>
                <a:effectLst/>
                <a:latin typeface="BlinkMacSystemFont"/>
              </a:rPr>
              <a:t>Sigurğardóttir</a:t>
            </a:r>
            <a:r>
              <a:rPr lang="en-US" sz="800" b="0" i="0" dirty="0">
                <a:solidFill>
                  <a:srgbClr val="212121"/>
                </a:solidFill>
                <a:effectLst/>
                <a:latin typeface="BlinkMacSystemFont"/>
              </a:rPr>
              <a:t>, S., </a:t>
            </a:r>
            <a:r>
              <a:rPr lang="en-US" sz="800" b="0" i="0" dirty="0" err="1">
                <a:solidFill>
                  <a:srgbClr val="212121"/>
                </a:solidFill>
                <a:effectLst/>
                <a:latin typeface="BlinkMacSystemFont"/>
              </a:rPr>
              <a:t>Helgason</a:t>
            </a:r>
            <a:r>
              <a:rPr lang="en-US" sz="800" b="0" i="0" dirty="0">
                <a:solidFill>
                  <a:srgbClr val="212121"/>
                </a:solidFill>
                <a:effectLst/>
                <a:latin typeface="BlinkMacSystemFont"/>
              </a:rPr>
              <a:t>, A., </a:t>
            </a:r>
            <a:r>
              <a:rPr lang="en-US" sz="800" b="0" i="0" dirty="0" err="1">
                <a:solidFill>
                  <a:srgbClr val="212121"/>
                </a:solidFill>
                <a:effectLst/>
                <a:latin typeface="BlinkMacSystemFont"/>
              </a:rPr>
              <a:t>Gulcher</a:t>
            </a:r>
            <a:r>
              <a:rPr lang="en-US" sz="800" b="0" i="0" dirty="0">
                <a:solidFill>
                  <a:srgbClr val="212121"/>
                </a:solidFill>
                <a:effectLst/>
                <a:latin typeface="BlinkMacSystemFont"/>
              </a:rPr>
              <a:t>, J. R., Stefansson, K., &amp; Donnelly, P. (2000). The mutation rate in the human </a:t>
            </a:r>
            <a:r>
              <a:rPr lang="en-US" sz="800" b="0" i="0" dirty="0" err="1">
                <a:solidFill>
                  <a:srgbClr val="212121"/>
                </a:solidFill>
                <a:effectLst/>
                <a:latin typeface="BlinkMacSystemFont"/>
              </a:rPr>
              <a:t>mtDNA</a:t>
            </a:r>
            <a:r>
              <a:rPr lang="en-US" sz="800" b="0" i="0" dirty="0">
                <a:solidFill>
                  <a:srgbClr val="212121"/>
                </a:solidFill>
                <a:effectLst/>
                <a:latin typeface="BlinkMacSystemFont"/>
              </a:rPr>
              <a:t> control region. </a:t>
            </a:r>
            <a:r>
              <a:rPr lang="en-US" sz="800" b="0" i="1" dirty="0">
                <a:solidFill>
                  <a:srgbClr val="212121"/>
                </a:solidFill>
                <a:effectLst/>
                <a:latin typeface="BlinkMacSystemFont"/>
              </a:rPr>
              <a:t>American journal of human genetics</a:t>
            </a:r>
            <a:r>
              <a:rPr lang="en-US" sz="800" b="0" i="0" dirty="0">
                <a:solidFill>
                  <a:srgbClr val="212121"/>
                </a:solidFill>
                <a:effectLst/>
                <a:latin typeface="BlinkMacSystemFont"/>
              </a:rPr>
              <a:t>, </a:t>
            </a:r>
            <a:r>
              <a:rPr lang="en-US" sz="800" b="0" i="1" dirty="0">
                <a:solidFill>
                  <a:srgbClr val="212121"/>
                </a:solidFill>
                <a:effectLst/>
                <a:latin typeface="BlinkMacSystemFont"/>
              </a:rPr>
              <a:t>66</a:t>
            </a:r>
            <a:r>
              <a:rPr lang="en-US" sz="800" b="0" i="0" dirty="0">
                <a:solidFill>
                  <a:srgbClr val="212121"/>
                </a:solidFill>
                <a:effectLst/>
                <a:latin typeface="BlinkMacSystemFont"/>
              </a:rPr>
              <a:t>(5), 1599–1609. </a:t>
            </a:r>
            <a:endParaRPr lang="en-CA" sz="800" dirty="0"/>
          </a:p>
        </p:txBody>
      </p:sp>
    </p:spTree>
    <p:extLst>
      <p:ext uri="{BB962C8B-B14F-4D97-AF65-F5344CB8AC3E}">
        <p14:creationId xmlns:p14="http://schemas.microsoft.com/office/powerpoint/2010/main" val="1265944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CB68D80-3F5E-410A-91B0-6A968E11C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/>
          <a:lstStyle/>
          <a:p>
            <a:r>
              <a:rPr lang="en-US" dirty="0"/>
              <a:t>Molecular Clock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A78EB8E-2C1D-4C87-B7F2-0633E274D7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/>
          <a:lstStyle/>
          <a:p>
            <a:r>
              <a:rPr lang="en-US" dirty="0"/>
              <a:t>Kimura’s Neutral Evolution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75B52A5-EC35-4661-ACE8-4E978F23165D}"/>
                  </a:ext>
                </a:extLst>
              </p:cNvPr>
              <p:cNvSpPr txBox="1"/>
              <p:nvPr/>
            </p:nvSpPr>
            <p:spPr>
              <a:xfrm>
                <a:off x="2775691" y="5324746"/>
                <a:ext cx="2618582" cy="92333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6000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6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CA" sz="6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75B52A5-EC35-4661-ACE8-4E978F2316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5691" y="5324746"/>
                <a:ext cx="2618582" cy="9233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0B8F622-0721-4CE3-932C-A06C6C665BA2}"/>
                  </a:ext>
                </a:extLst>
              </p:cNvPr>
              <p:cNvSpPr txBox="1"/>
              <p:nvPr/>
            </p:nvSpPr>
            <p:spPr>
              <a:xfrm>
                <a:off x="2301926" y="922303"/>
                <a:ext cx="3566112" cy="92333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6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6000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sz="60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6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CA" sz="6000" dirty="0"/>
                  <a:t>P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0B8F622-0721-4CE3-932C-A06C6C665B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1926" y="922303"/>
                <a:ext cx="3566112" cy="923330"/>
              </a:xfrm>
              <a:prstGeom prst="rect">
                <a:avLst/>
              </a:prstGeom>
              <a:blipFill>
                <a:blip r:embed="rId3"/>
                <a:stretch>
                  <a:fillRect t="-25000" r="-5470" b="-4868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E0AAE21-3177-48F5-B0ED-55FA0F3D10B7}"/>
              </a:ext>
            </a:extLst>
          </p:cNvPr>
          <p:cNvCxnSpPr/>
          <p:nvPr/>
        </p:nvCxnSpPr>
        <p:spPr>
          <a:xfrm flipV="1">
            <a:off x="1361660" y="1750631"/>
            <a:ext cx="1073426" cy="626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B815BEE-2927-493B-815E-F782F32BA011}"/>
              </a:ext>
            </a:extLst>
          </p:cNvPr>
          <p:cNvCxnSpPr>
            <a:cxnSpLocks/>
          </p:cNvCxnSpPr>
          <p:nvPr/>
        </p:nvCxnSpPr>
        <p:spPr>
          <a:xfrm flipV="1">
            <a:off x="3050151" y="1750631"/>
            <a:ext cx="1421468" cy="9993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2F4F18C-2D3C-4F34-95C5-205EC1600459}"/>
              </a:ext>
            </a:extLst>
          </p:cNvPr>
          <p:cNvCxnSpPr>
            <a:cxnSpLocks/>
          </p:cNvCxnSpPr>
          <p:nvPr/>
        </p:nvCxnSpPr>
        <p:spPr>
          <a:xfrm flipV="1">
            <a:off x="4613936" y="1796864"/>
            <a:ext cx="472747" cy="6927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7828D08-B09B-4C10-A14A-C004E6806D7D}"/>
              </a:ext>
            </a:extLst>
          </p:cNvPr>
          <p:cNvCxnSpPr/>
          <p:nvPr/>
        </p:nvCxnSpPr>
        <p:spPr>
          <a:xfrm flipH="1" flipV="1">
            <a:off x="5701748" y="1598425"/>
            <a:ext cx="1286099" cy="828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1FE5071-6B9C-4BB6-BD57-B187A551351A}"/>
              </a:ext>
            </a:extLst>
          </p:cNvPr>
          <p:cNvSpPr txBox="1"/>
          <p:nvPr/>
        </p:nvSpPr>
        <p:spPr>
          <a:xfrm>
            <a:off x="3734814" y="2426781"/>
            <a:ext cx="18818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Rate of Mutation</a:t>
            </a:r>
            <a:endParaRPr lang="en-CA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8AFB8A-8DD6-48FA-8F7C-A733A2C24083}"/>
              </a:ext>
            </a:extLst>
          </p:cNvPr>
          <p:cNvSpPr txBox="1"/>
          <p:nvPr/>
        </p:nvSpPr>
        <p:spPr>
          <a:xfrm>
            <a:off x="107090" y="2186891"/>
            <a:ext cx="21389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Rate of Substitution/Gen</a:t>
            </a:r>
            <a:endParaRPr lang="en-CA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41325A0-0507-4F17-9C14-6163B5D9764C}"/>
              </a:ext>
            </a:extLst>
          </p:cNvPr>
          <p:cNvSpPr txBox="1"/>
          <p:nvPr/>
        </p:nvSpPr>
        <p:spPr>
          <a:xfrm>
            <a:off x="6791737" y="2418910"/>
            <a:ext cx="155133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Probability of Fixation of Neutral Allele</a:t>
            </a:r>
            <a:endParaRPr lang="en-CA" sz="1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199D977-BCAB-4E98-B450-BC235A4EEFDF}"/>
              </a:ext>
            </a:extLst>
          </p:cNvPr>
          <p:cNvSpPr txBox="1"/>
          <p:nvPr/>
        </p:nvSpPr>
        <p:spPr>
          <a:xfrm>
            <a:off x="1791632" y="2733932"/>
            <a:ext cx="1881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Population Size</a:t>
            </a:r>
            <a:endParaRPr lang="en-CA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70AC7D3-3A7F-4140-9DEB-EBD71722D977}"/>
              </a:ext>
            </a:extLst>
          </p:cNvPr>
          <p:cNvSpPr txBox="1"/>
          <p:nvPr/>
        </p:nvSpPr>
        <p:spPr>
          <a:xfrm>
            <a:off x="3451055" y="431523"/>
            <a:ext cx="2325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Mutations/gen/site</a:t>
            </a:r>
            <a:endParaRPr lang="en-CA" dirty="0"/>
          </a:p>
        </p:txBody>
      </p:sp>
      <p:sp>
        <p:nvSpPr>
          <p:cNvPr id="33" name="Left Brace 32">
            <a:extLst>
              <a:ext uri="{FF2B5EF4-FFF2-40B4-BE49-F238E27FC236}">
                <a16:creationId xmlns:a16="http://schemas.microsoft.com/office/drawing/2014/main" id="{F24245A6-F907-421E-8D85-0605B4F0639F}"/>
              </a:ext>
            </a:extLst>
          </p:cNvPr>
          <p:cNvSpPr/>
          <p:nvPr/>
        </p:nvSpPr>
        <p:spPr>
          <a:xfrm rot="5400000">
            <a:off x="4492204" y="304760"/>
            <a:ext cx="243460" cy="1304329"/>
          </a:xfrm>
          <a:prstGeom prst="leftBrace">
            <a:avLst>
              <a:gd name="adj1" fmla="val 36910"/>
              <a:gd name="adj2" fmla="val 56096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95E93F7-AFC6-4E2B-889B-D6776D8AD3C7}"/>
                  </a:ext>
                </a:extLst>
              </p:cNvPr>
              <p:cNvSpPr txBox="1"/>
              <p:nvPr/>
            </p:nvSpPr>
            <p:spPr>
              <a:xfrm>
                <a:off x="1553817" y="3847596"/>
                <a:ext cx="5062330" cy="12676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sz="4400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4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∗</m:t>
                      </m:r>
                      <m:f>
                        <m:fPr>
                          <m:ctrlP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CA" sz="4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95E93F7-AFC6-4E2B-889B-D6776D8AD3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3817" y="3847596"/>
                <a:ext cx="5062330" cy="126765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122EFBB-72BF-4C4C-B661-0E71146D5DAE}"/>
                  </a:ext>
                </a:extLst>
              </p:cNvPr>
              <p:cNvSpPr txBox="1"/>
              <p:nvPr/>
            </p:nvSpPr>
            <p:spPr>
              <a:xfrm>
                <a:off x="5394273" y="2969765"/>
                <a:ext cx="5062330" cy="6953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3200" b="0" dirty="0"/>
                  <a:t>P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endParaRPr lang="en-CA" sz="32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122EFBB-72BF-4C4C-B661-0E71146D5D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4273" y="2969765"/>
                <a:ext cx="5062330" cy="695383"/>
              </a:xfrm>
              <a:prstGeom prst="rect">
                <a:avLst/>
              </a:prstGeom>
              <a:blipFill>
                <a:blip r:embed="rId5"/>
                <a:stretch>
                  <a:fillRect l="-4940" t="-5263" b="-1842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2301E1E-324D-42DC-A70F-050CC2466E6C}"/>
              </a:ext>
            </a:extLst>
          </p:cNvPr>
          <p:cNvSpPr txBox="1"/>
          <p:nvPr/>
        </p:nvSpPr>
        <p:spPr>
          <a:xfrm>
            <a:off x="8458200" y="2859970"/>
            <a:ext cx="30883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Kimura, M. (1983). </a:t>
            </a:r>
            <a:r>
              <a:rPr lang="en-US" sz="8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The neutral theory of molecular evolution</a:t>
            </a:r>
            <a:r>
              <a:rPr lang="en-US" sz="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Cambridge University Press.</a:t>
            </a:r>
            <a:endParaRPr lang="en-CA" sz="800" dirty="0"/>
          </a:p>
        </p:txBody>
      </p:sp>
    </p:spTree>
    <p:extLst>
      <p:ext uri="{BB962C8B-B14F-4D97-AF65-F5344CB8AC3E}">
        <p14:creationId xmlns:p14="http://schemas.microsoft.com/office/powerpoint/2010/main" val="228549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D01D114-23CF-4B4B-8787-732F58DFDAA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𝑃𝑒𝑑𝑖𝑔𝑟𝑒𝑒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𝑅𝑎𝑡𝑒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𝑃h𝑦𝑙𝑜𝑔𝑒𝑛𝑦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𝑅𝑎𝑡𝑒</m:t>
                      </m:r>
                    </m:oMath>
                  </m:oMathPara>
                </a14:m>
                <a:br>
                  <a:rPr lang="en-US" b="0" dirty="0">
                    <a:ea typeface="Cambria Math" panose="02040503050406030204" pitchFamily="18" charset="0"/>
                  </a:rPr>
                </a:br>
                <a:endParaRPr lang="en-CA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D01D114-23CF-4B4B-8787-732F58DFDA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1C052E0-D68E-4A98-8424-353282D17F4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623060" y="4532974"/>
                <a:ext cx="8939784" cy="1022999"/>
              </a:xfr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4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CA" sz="480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1C052E0-D68E-4A98-8424-353282D17F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623060" y="4532974"/>
                <a:ext cx="8939784" cy="1022999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5502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1C052E0-D68E-4A98-8424-353282D17F4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623060" y="4532974"/>
                <a:ext cx="8939784" cy="1022999"/>
              </a:xfrm>
            </p:spPr>
            <p:txBody>
              <a:bodyPr>
                <a:noAutofit/>
              </a:bodyPr>
              <a:lstStyle/>
              <a:p>
                <a:r>
                  <a:rPr lang="en-CA" sz="4800" dirty="0">
                    <a:ea typeface="Cambria Math" panose="02040503050406030204" pitchFamily="18" charset="0"/>
                  </a:rPr>
                  <a:t>?? </a:t>
                </a:r>
                <a14:m>
                  <m:oMath xmlns:m="http://schemas.openxmlformats.org/officeDocument/2006/math">
                    <m:r>
                      <a:rPr lang="en-CA" sz="4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sz="4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4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4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A" sz="4800" dirty="0"/>
                  <a:t>??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1C052E0-D68E-4A98-8424-353282D17F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623060" y="4532974"/>
                <a:ext cx="8939784" cy="1022999"/>
              </a:xfrm>
              <a:blipFill>
                <a:blip r:embed="rId2"/>
                <a:stretch>
                  <a:fillRect t="-13174" b="-1317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CA1739D0-C50D-4CE0-8BBD-6030734AB19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32471" y="2268541"/>
                <a:ext cx="8933688" cy="240689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ctr" defTabSz="914400" rtl="0" eaLnBrk="1" latinLnBrk="0" hangingPunct="1">
                  <a:lnSpc>
                    <a:spcPct val="83000"/>
                  </a:lnSpc>
                  <a:spcBef>
                    <a:spcPct val="0"/>
                  </a:spcBef>
                  <a:buNone/>
                  <a:defRPr lang="en-US" sz="6800" i="0" kern="1200" cap="all" spc="-100" baseline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+mj-lt"/>
                    <a:ea typeface="+mn-ea"/>
                    <a:cs typeface="+mn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CA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CA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𝑃𝑒𝑑𝑖𝑔𝑟𝑒𝑒</m:t>
                      </m:r>
                      <m:r>
                        <a:rPr lang="en-CA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CA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𝑅𝑎𝑡𝑒</m:t>
                      </m:r>
                    </m:oMath>
                    <m:oMath xmlns:m="http://schemas.openxmlformats.org/officeDocument/2006/math">
                      <m:r>
                        <a:rPr lang="en-CA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CA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CA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𝑃h𝑦𝑙𝑜𝑔𝑒𝑛𝑦</m:t>
                      </m:r>
                      <m:r>
                        <a:rPr lang="en-CA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CA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𝑅𝑎𝑡𝑒</m:t>
                      </m:r>
                    </m:oMath>
                  </m:oMathPara>
                </a14:m>
                <a:br>
                  <a:rPr lang="en-CA" dirty="0">
                    <a:ea typeface="Cambria Math" panose="02040503050406030204" pitchFamily="18" charset="0"/>
                  </a:rPr>
                </a:br>
                <a:endParaRPr lang="en-CA" dirty="0"/>
              </a:p>
            </p:txBody>
          </p:sp>
        </mc:Choice>
        <mc:Fallback xmlns=""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CA1739D0-C50D-4CE0-8BBD-6030734AB1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2471" y="2268541"/>
                <a:ext cx="8933688" cy="240689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337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0EBE2-EDB2-480C-90ED-6D31BB3DF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Previous work</a:t>
            </a:r>
            <a:endParaRPr lang="en-C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B282E0-2FBA-43BB-A72D-3E62D0874C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66798" y="1695997"/>
            <a:ext cx="10058399" cy="439373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Many proposed hypotheses:</a:t>
            </a:r>
          </a:p>
          <a:p>
            <a:pPr lvl="1"/>
            <a:r>
              <a:rPr lang="en-US" dirty="0"/>
              <a:t>Negative Selection</a:t>
            </a:r>
          </a:p>
          <a:p>
            <a:pPr marL="274320" lvl="1" indent="0">
              <a:buNone/>
            </a:pPr>
            <a:endParaRPr lang="en-US" dirty="0"/>
          </a:p>
          <a:p>
            <a:pPr lvl="1"/>
            <a:r>
              <a:rPr lang="en-US" dirty="0"/>
              <a:t>“Two-Hit” Hypothesis</a:t>
            </a:r>
          </a:p>
          <a:p>
            <a:pPr lvl="2"/>
            <a:r>
              <a:rPr lang="en-US" dirty="0" err="1"/>
              <a:t>mtDNA</a:t>
            </a:r>
            <a:r>
              <a:rPr lang="en-US" dirty="0"/>
              <a:t> “Hotspots” account for multiple mutations in single region</a:t>
            </a:r>
          </a:p>
          <a:p>
            <a:pPr lvl="3"/>
            <a:r>
              <a:rPr lang="en-US" dirty="0"/>
              <a:t>Detected only in pedigree </a:t>
            </a:r>
          </a:p>
          <a:p>
            <a:pPr lvl="2"/>
            <a:r>
              <a:rPr lang="en-US" dirty="0"/>
              <a:t>Only works in certain studies (Human-Chimp)</a:t>
            </a:r>
            <a:r>
              <a:rPr lang="en-US" baseline="-25000" dirty="0"/>
              <a:t>[1]</a:t>
            </a:r>
            <a:endParaRPr lang="en-US" dirty="0"/>
          </a:p>
          <a:p>
            <a:pPr lvl="3"/>
            <a:endParaRPr lang="en-US" dirty="0"/>
          </a:p>
          <a:p>
            <a:pPr lvl="1"/>
            <a:r>
              <a:rPr lang="en-US" dirty="0"/>
              <a:t>Timescales of Evolution</a:t>
            </a:r>
          </a:p>
          <a:p>
            <a:pPr lvl="2"/>
            <a:r>
              <a:rPr lang="en-US" dirty="0"/>
              <a:t>Calibrating using Archeological evidence for sequence divergent event times</a:t>
            </a:r>
            <a:r>
              <a:rPr lang="en-US" baseline="-25000" dirty="0"/>
              <a:t>[2]</a:t>
            </a:r>
          </a:p>
          <a:p>
            <a:pPr lvl="2"/>
            <a:r>
              <a:rPr lang="en-US" dirty="0"/>
              <a:t>Scale “Evolution rate” to time “distance” away from present.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Sequencing/Database Errors</a:t>
            </a:r>
          </a:p>
          <a:p>
            <a:pPr lvl="2"/>
            <a:r>
              <a:rPr lang="en-US" dirty="0"/>
              <a:t>Vastly different sequences within families (&lt; 2%)</a:t>
            </a:r>
          </a:p>
          <a:p>
            <a:pPr lvl="2"/>
            <a:r>
              <a:rPr lang="en-US" dirty="0"/>
              <a:t>Low variance </a:t>
            </a:r>
            <a:r>
              <a:rPr lang="en-US" dirty="0">
                <a:sym typeface="Wingdings" panose="05000000000000000000" pitchFamily="2" charset="2"/>
              </a:rPr>
              <a:t>LARGE impact of Sequence errors</a:t>
            </a:r>
            <a:endParaRPr lang="en-US" dirty="0"/>
          </a:p>
          <a:p>
            <a:pPr lvl="2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4C1443-A6C7-4D65-BDEA-158A2F07D698}"/>
              </a:ext>
            </a:extLst>
          </p:cNvPr>
          <p:cNvSpPr txBox="1"/>
          <p:nvPr/>
        </p:nvSpPr>
        <p:spPr>
          <a:xfrm>
            <a:off x="419512" y="6139214"/>
            <a:ext cx="113529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0" i="0" dirty="0">
                <a:solidFill>
                  <a:srgbClr val="212121"/>
                </a:solidFill>
                <a:effectLst/>
                <a:latin typeface="BlinkMacSystemFont"/>
              </a:rPr>
              <a:t>[1] Henn, B. M., </a:t>
            </a:r>
            <a:r>
              <a:rPr lang="en-US" sz="800" b="0" i="0" dirty="0" err="1">
                <a:solidFill>
                  <a:srgbClr val="212121"/>
                </a:solidFill>
                <a:effectLst/>
                <a:latin typeface="BlinkMacSystemFont"/>
              </a:rPr>
              <a:t>Gignoux</a:t>
            </a:r>
            <a:r>
              <a:rPr lang="en-US" sz="800" b="0" i="0" dirty="0">
                <a:solidFill>
                  <a:srgbClr val="212121"/>
                </a:solidFill>
                <a:effectLst/>
                <a:latin typeface="BlinkMacSystemFont"/>
              </a:rPr>
              <a:t>, C. R., Feldman, M. W., &amp; Mountain, J. L. (2009). Characterizing the time dependency of human mitochondrial DNA mutation rate estimates. </a:t>
            </a:r>
            <a:r>
              <a:rPr lang="en-US" sz="800" b="0" i="1" dirty="0">
                <a:solidFill>
                  <a:srgbClr val="212121"/>
                </a:solidFill>
                <a:effectLst/>
                <a:latin typeface="BlinkMacSystemFont"/>
              </a:rPr>
              <a:t>Molecular biology and evolution</a:t>
            </a:r>
            <a:r>
              <a:rPr lang="en-US" sz="800" b="0" i="0" dirty="0">
                <a:solidFill>
                  <a:srgbClr val="212121"/>
                </a:solidFill>
                <a:effectLst/>
                <a:latin typeface="BlinkMacSystemFont"/>
              </a:rPr>
              <a:t>, </a:t>
            </a:r>
            <a:r>
              <a:rPr lang="en-US" sz="800" b="0" i="1" dirty="0">
                <a:solidFill>
                  <a:srgbClr val="212121"/>
                </a:solidFill>
                <a:effectLst/>
                <a:latin typeface="BlinkMacSystemFont"/>
              </a:rPr>
              <a:t>26</a:t>
            </a:r>
            <a:r>
              <a:rPr lang="en-US" sz="800" b="0" i="0" dirty="0">
                <a:solidFill>
                  <a:srgbClr val="212121"/>
                </a:solidFill>
                <a:effectLst/>
                <a:latin typeface="BlinkMacSystemFont"/>
              </a:rPr>
              <a:t>(1), 217–230 .</a:t>
            </a:r>
          </a:p>
          <a:p>
            <a:r>
              <a:rPr lang="en-US" sz="800" dirty="0">
                <a:solidFill>
                  <a:srgbClr val="212121"/>
                </a:solidFill>
                <a:latin typeface="BlinkMacSystemFont"/>
              </a:rPr>
              <a:t>[2] </a:t>
            </a:r>
            <a:r>
              <a:rPr lang="en-US" sz="800" b="0" i="0" dirty="0">
                <a:solidFill>
                  <a:srgbClr val="212121"/>
                </a:solidFill>
                <a:effectLst/>
                <a:latin typeface="BlinkMacSystemFont"/>
              </a:rPr>
              <a:t>Ho, S. Y., Phillips, M. J., Cooper, A., &amp; Drummond, A. J. (2005). Time dependency of molecular rate estimates and systematic overestimation of recent divergence times. </a:t>
            </a:r>
            <a:r>
              <a:rPr lang="en-US" sz="800" b="0" i="1" dirty="0">
                <a:solidFill>
                  <a:srgbClr val="212121"/>
                </a:solidFill>
                <a:effectLst/>
                <a:latin typeface="BlinkMacSystemFont"/>
              </a:rPr>
              <a:t>Molecular biology and evolution</a:t>
            </a:r>
            <a:r>
              <a:rPr lang="en-US" sz="800" b="0" i="0" dirty="0">
                <a:solidFill>
                  <a:srgbClr val="212121"/>
                </a:solidFill>
                <a:effectLst/>
                <a:latin typeface="BlinkMacSystemFont"/>
              </a:rPr>
              <a:t>, </a:t>
            </a:r>
            <a:r>
              <a:rPr lang="en-US" sz="800" b="0" i="1" dirty="0">
                <a:solidFill>
                  <a:srgbClr val="212121"/>
                </a:solidFill>
                <a:effectLst/>
                <a:latin typeface="BlinkMacSystemFont"/>
              </a:rPr>
              <a:t>22</a:t>
            </a:r>
            <a:r>
              <a:rPr lang="en-US" sz="800" b="0" i="0" dirty="0">
                <a:solidFill>
                  <a:srgbClr val="212121"/>
                </a:solidFill>
                <a:effectLst/>
                <a:latin typeface="BlinkMacSystemFont"/>
              </a:rPr>
              <a:t>(7), 1561–1568. </a:t>
            </a:r>
            <a:endParaRPr lang="en-CA" sz="800" dirty="0"/>
          </a:p>
          <a:p>
            <a:endParaRPr lang="en-CA" sz="800" dirty="0"/>
          </a:p>
        </p:txBody>
      </p:sp>
    </p:spTree>
    <p:extLst>
      <p:ext uri="{BB962C8B-B14F-4D97-AF65-F5344CB8AC3E}">
        <p14:creationId xmlns:p14="http://schemas.microsoft.com/office/powerpoint/2010/main" val="22238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28785-2DCD-479F-AFB6-844F2AD36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HETEROPLASMY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72896C-CF20-4BA5-878D-8100A6C798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The Key?</a:t>
            </a:r>
          </a:p>
        </p:txBody>
      </p:sp>
    </p:spTree>
    <p:extLst>
      <p:ext uri="{BB962C8B-B14F-4D97-AF65-F5344CB8AC3E}">
        <p14:creationId xmlns:p14="http://schemas.microsoft.com/office/powerpoint/2010/main" val="4156329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598D2-54B3-4DED-B194-D9458F695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Aims &amp; Objectives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20E0C-6C5A-4370-AFF5-8CE54B3223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u="sng" dirty="0"/>
              <a:t>OBJECTIVE</a:t>
            </a:r>
          </a:p>
          <a:p>
            <a:r>
              <a:rPr lang="en-CA" dirty="0"/>
              <a:t>Evaluate potential reasons for the discrepancy in evolution rates estimates in Mitochondrial DNA.</a:t>
            </a:r>
          </a:p>
          <a:p>
            <a:endParaRPr lang="en-CA" dirty="0"/>
          </a:p>
          <a:p>
            <a:pPr marL="0" indent="0">
              <a:buNone/>
            </a:pPr>
            <a:r>
              <a:rPr lang="en-CA" b="1" u="sng" dirty="0"/>
              <a:t>AIMS</a:t>
            </a:r>
          </a:p>
          <a:p>
            <a:r>
              <a:rPr lang="en-CA" dirty="0"/>
              <a:t>Mutation Rate Estimates between Mother Child </a:t>
            </a:r>
            <a:r>
              <a:rPr lang="en-CA" dirty="0" err="1"/>
              <a:t>mtDNA</a:t>
            </a:r>
            <a:r>
              <a:rPr lang="en-CA" dirty="0"/>
              <a:t> pair Data</a:t>
            </a:r>
          </a:p>
          <a:p>
            <a:pPr lvl="1"/>
            <a:r>
              <a:rPr lang="en-CA" dirty="0"/>
              <a:t>Observe Rate Estimate changes in response to Heteroplasmy in Mother and Child </a:t>
            </a:r>
          </a:p>
          <a:p>
            <a:pPr lvl="1"/>
            <a:endParaRPr lang="en-CA" dirty="0"/>
          </a:p>
          <a:p>
            <a:r>
              <a:rPr lang="en-CA" dirty="0"/>
              <a:t>Observe Mutation Gradient in curated Dataset. </a:t>
            </a:r>
          </a:p>
          <a:p>
            <a:pPr lvl="1"/>
            <a:r>
              <a:rPr lang="en-CA" dirty="0"/>
              <a:t>Implications on rate estimates</a:t>
            </a:r>
          </a:p>
          <a:p>
            <a:pPr marL="0" indent="0">
              <a:buNone/>
            </a:pP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38968677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618F9-9BAC-45A3-A064-13A1526B2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/>
          <a:p>
            <a:r>
              <a:rPr lang="en-US" dirty="0"/>
              <a:t>Methodology</a:t>
            </a: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C81C15-D6C1-45C4-BCA9-7C728E37BD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87706"/>
            <a:ext cx="6858000" cy="5177788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4C795-BE5F-443C-91F1-C98E6DF276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/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Data Curation: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CA" sz="1300" dirty="0"/>
              <a:t>4 studies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CA" sz="1300" dirty="0"/>
              <a:t>3598 individuals sampled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CA" sz="1300" dirty="0"/>
              <a:t>Different Sequencing Platforms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CA" sz="1300" dirty="0"/>
              <a:t>Ion Torrent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CA" sz="1300" dirty="0" err="1"/>
              <a:t>MiSeq</a:t>
            </a:r>
            <a:endParaRPr lang="en-CA" sz="1300" dirty="0"/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CA" sz="1300" dirty="0"/>
              <a:t>Sanger Sequencing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CA" sz="1300" dirty="0"/>
              <a:t>Whole Exome Sequencing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CA" sz="1300" dirty="0"/>
              <a:t>Variant Callers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fr-FR" sz="1300" dirty="0"/>
              <a:t>Ion Torrent Software Suite 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CA" sz="1300" dirty="0"/>
              <a:t>Naïve Variant Caller + Variant Annotator (Galaxy)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Cambridge Reference Sequence (</a:t>
            </a:r>
            <a:r>
              <a:rPr lang="en-US" sz="1300" dirty="0" err="1"/>
              <a:t>rCRS</a:t>
            </a:r>
            <a:r>
              <a:rPr lang="en-US" sz="1300" dirty="0"/>
              <a:t>) by using “</a:t>
            </a:r>
            <a:r>
              <a:rPr lang="en-US" sz="1300" dirty="0" err="1"/>
              <a:t>samtool</a:t>
            </a:r>
            <a:r>
              <a:rPr lang="en-US" sz="1300" dirty="0"/>
              <a:t> </a:t>
            </a:r>
            <a:r>
              <a:rPr lang="en-US" sz="1300" dirty="0" err="1"/>
              <a:t>mpileup</a:t>
            </a:r>
            <a:r>
              <a:rPr lang="en-US" sz="1300" dirty="0"/>
              <a:t>”</a:t>
            </a:r>
            <a:endParaRPr lang="en-CA" sz="1300" dirty="0"/>
          </a:p>
        </p:txBody>
      </p:sp>
    </p:spTree>
    <p:extLst>
      <p:ext uri="{BB962C8B-B14F-4D97-AF65-F5344CB8AC3E}">
        <p14:creationId xmlns:p14="http://schemas.microsoft.com/office/powerpoint/2010/main" val="11887321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354A8-67AA-4D03-A433-950C2016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63938"/>
            <a:ext cx="10058400" cy="1371600"/>
          </a:xfrm>
        </p:spPr>
        <p:txBody>
          <a:bodyPr/>
          <a:lstStyle/>
          <a:p>
            <a:r>
              <a:rPr lang="en-CA" dirty="0"/>
              <a:t>Results: Rate Estimates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D24242-AE6B-482D-97DE-7F6C1408B4BD}"/>
              </a:ext>
            </a:extLst>
          </p:cNvPr>
          <p:cNvSpPr txBox="1"/>
          <p:nvPr/>
        </p:nvSpPr>
        <p:spPr>
          <a:xfrm>
            <a:off x="2555238" y="5807649"/>
            <a:ext cx="69306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chemeClr val="accent2"/>
                </a:solidFill>
              </a:rPr>
              <a:t>&gt;&gt;&gt; Literature Estimates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1E86053-E09F-4C6F-839C-378721A2A2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926" y="1654629"/>
            <a:ext cx="9612148" cy="415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3499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354A8-67AA-4D03-A433-950C20164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Results: Minor Allele Frequency (MAF)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DC1E9D-0F7E-4C5E-90AB-30225F3A3239}"/>
              </a:ext>
            </a:extLst>
          </p:cNvPr>
          <p:cNvSpPr txBox="1"/>
          <p:nvPr/>
        </p:nvSpPr>
        <p:spPr>
          <a:xfrm>
            <a:off x="2757948" y="5689746"/>
            <a:ext cx="4663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&gt; </a:t>
            </a:r>
            <a:r>
              <a:rPr lang="en-CA" dirty="0" err="1"/>
              <a:t>bloodMutRate</a:t>
            </a:r>
            <a:endParaRPr lang="en-CA" dirty="0"/>
          </a:p>
          <a:p>
            <a:r>
              <a:rPr lang="en-CA" dirty="0"/>
              <a:t>[1] 0.0001331827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11DDF9-BAF3-4FA4-8634-03FB24E1C51C}"/>
              </a:ext>
            </a:extLst>
          </p:cNvPr>
          <p:cNvSpPr txBox="1"/>
          <p:nvPr/>
        </p:nvSpPr>
        <p:spPr>
          <a:xfrm>
            <a:off x="7102332" y="5705425"/>
            <a:ext cx="4663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&gt; </a:t>
            </a:r>
            <a:r>
              <a:rPr lang="en-CA" dirty="0" err="1"/>
              <a:t>cheekMutRate</a:t>
            </a:r>
            <a:endParaRPr lang="en-CA" dirty="0"/>
          </a:p>
          <a:p>
            <a:r>
              <a:rPr lang="en-CA" dirty="0"/>
              <a:t>[1] 0.0002348187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E737F33-D5EA-4082-975D-5260287C3E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8650" y="1656735"/>
            <a:ext cx="8649907" cy="4048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6172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6B1D9-64CF-4446-BAFA-0E936FA42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Error in Estimates?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4A21F-1A8F-4179-843A-7B6555F38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766225"/>
            <a:ext cx="10058400" cy="870817"/>
          </a:xfrm>
        </p:spPr>
        <p:txBody>
          <a:bodyPr>
            <a:normAutofit/>
          </a:bodyPr>
          <a:lstStyle/>
          <a:p>
            <a:r>
              <a:rPr lang="en-CA" sz="2000" dirty="0" err="1"/>
              <a:t>Heteroplasmy</a:t>
            </a:r>
            <a:r>
              <a:rPr lang="en-CA" sz="2000" dirty="0"/>
              <a:t>!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3BDF6CF-BFA9-42F5-8FCA-402668E65E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3749" y="2232113"/>
            <a:ext cx="9004501" cy="4214662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5063410-3BCE-431E-AC92-25794D07B8B4}"/>
              </a:ext>
            </a:extLst>
          </p:cNvPr>
          <p:cNvCxnSpPr>
            <a:cxnSpLocks/>
          </p:cNvCxnSpPr>
          <p:nvPr/>
        </p:nvCxnSpPr>
        <p:spPr>
          <a:xfrm>
            <a:off x="955040" y="4734560"/>
            <a:ext cx="495808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1859914-36AB-46A7-921E-246583CACD61}"/>
              </a:ext>
            </a:extLst>
          </p:cNvPr>
          <p:cNvCxnSpPr>
            <a:cxnSpLocks/>
          </p:cNvCxnSpPr>
          <p:nvPr/>
        </p:nvCxnSpPr>
        <p:spPr>
          <a:xfrm>
            <a:off x="6654800" y="5222240"/>
            <a:ext cx="495808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246E83D-CB9E-45A3-A82C-29445C36E5A5}"/>
              </a:ext>
            </a:extLst>
          </p:cNvPr>
          <p:cNvSpPr txBox="1"/>
          <p:nvPr/>
        </p:nvSpPr>
        <p:spPr>
          <a:xfrm>
            <a:off x="2885440" y="4767644"/>
            <a:ext cx="2773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Literature Estimate: 5x10</a:t>
            </a:r>
            <a:r>
              <a:rPr lang="en-CA" baseline="30000" dirty="0"/>
              <a:t>^-5</a:t>
            </a:r>
            <a:endParaRPr lang="en-CA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E80E1A0-49F2-47A2-B736-A8C43DF276F2}"/>
              </a:ext>
            </a:extLst>
          </p:cNvPr>
          <p:cNvSpPr txBox="1"/>
          <p:nvPr/>
        </p:nvSpPr>
        <p:spPr>
          <a:xfrm>
            <a:off x="7747000" y="5278184"/>
            <a:ext cx="2773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Literature Estimate: 5x10</a:t>
            </a:r>
            <a:r>
              <a:rPr lang="en-CA" baseline="30000" dirty="0"/>
              <a:t>^-5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895207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6B1D9-64CF-4446-BAFA-0E936FA42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Error in Estimates?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4A21F-1A8F-4179-843A-7B6555F38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766225"/>
            <a:ext cx="10058400" cy="870817"/>
          </a:xfrm>
        </p:spPr>
        <p:txBody>
          <a:bodyPr>
            <a:normAutofit/>
          </a:bodyPr>
          <a:lstStyle/>
          <a:p>
            <a:r>
              <a:rPr lang="en-CA" sz="2000" dirty="0" err="1"/>
              <a:t>Heteroplasmy</a:t>
            </a:r>
            <a:r>
              <a:rPr lang="en-CA" sz="2000" dirty="0"/>
              <a:t>!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3BDF6CF-BFA9-42F5-8FCA-402668E65E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3749" y="2232113"/>
            <a:ext cx="9004501" cy="4214662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5063410-3BCE-431E-AC92-25794D07B8B4}"/>
              </a:ext>
            </a:extLst>
          </p:cNvPr>
          <p:cNvCxnSpPr>
            <a:cxnSpLocks/>
          </p:cNvCxnSpPr>
          <p:nvPr/>
        </p:nvCxnSpPr>
        <p:spPr>
          <a:xfrm>
            <a:off x="955040" y="4734560"/>
            <a:ext cx="495808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1859914-36AB-46A7-921E-246583CACD61}"/>
              </a:ext>
            </a:extLst>
          </p:cNvPr>
          <p:cNvCxnSpPr>
            <a:cxnSpLocks/>
          </p:cNvCxnSpPr>
          <p:nvPr/>
        </p:nvCxnSpPr>
        <p:spPr>
          <a:xfrm>
            <a:off x="6654800" y="5222240"/>
            <a:ext cx="495808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246E83D-CB9E-45A3-A82C-29445C36E5A5}"/>
              </a:ext>
            </a:extLst>
          </p:cNvPr>
          <p:cNvSpPr txBox="1"/>
          <p:nvPr/>
        </p:nvSpPr>
        <p:spPr>
          <a:xfrm>
            <a:off x="2885440" y="4767644"/>
            <a:ext cx="2773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Literature Estimate: 5x10</a:t>
            </a:r>
            <a:r>
              <a:rPr lang="en-CA" baseline="30000" dirty="0"/>
              <a:t>^-5</a:t>
            </a:r>
            <a:endParaRPr lang="en-CA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E80E1A0-49F2-47A2-B736-A8C43DF276F2}"/>
              </a:ext>
            </a:extLst>
          </p:cNvPr>
          <p:cNvSpPr txBox="1"/>
          <p:nvPr/>
        </p:nvSpPr>
        <p:spPr>
          <a:xfrm>
            <a:off x="7747000" y="5278184"/>
            <a:ext cx="2773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Literature Estimate: 5x10</a:t>
            </a:r>
            <a:r>
              <a:rPr lang="en-CA" baseline="30000" dirty="0"/>
              <a:t>^-5</a:t>
            </a:r>
            <a:endParaRPr lang="en-CA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8C86910-ED2C-458F-B381-DFAF1FA76174}"/>
              </a:ext>
            </a:extLst>
          </p:cNvPr>
          <p:cNvCxnSpPr>
            <a:cxnSpLocks/>
          </p:cNvCxnSpPr>
          <p:nvPr/>
        </p:nvCxnSpPr>
        <p:spPr>
          <a:xfrm flipH="1">
            <a:off x="2414129" y="2542725"/>
            <a:ext cx="942622" cy="210733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F1D9D2D-DFC3-4455-8E19-D7FB92DEB97E}"/>
              </a:ext>
            </a:extLst>
          </p:cNvPr>
          <p:cNvCxnSpPr/>
          <p:nvPr/>
        </p:nvCxnSpPr>
        <p:spPr>
          <a:xfrm flipH="1">
            <a:off x="7091034" y="3061893"/>
            <a:ext cx="942622" cy="210733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83842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297F8-5BF8-4BEE-B50A-DC9EFA275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6EA26-D418-42FC-BCD3-B92F5073F4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/>
              <a:t>Mother Minor Allele Filtering</a:t>
            </a:r>
          </a:p>
          <a:p>
            <a:pPr lvl="1"/>
            <a:r>
              <a:rPr lang="en-US" sz="1800" dirty="0"/>
              <a:t>Mother MAF filtered rate estimates were similar to Child MAF filtered rate estimated</a:t>
            </a:r>
          </a:p>
          <a:p>
            <a:pPr lvl="1"/>
            <a:r>
              <a:rPr lang="en-CA" sz="1800" dirty="0"/>
              <a:t>Much of the heteroplasmy in our dataset were between 0.0-0.05 MAF</a:t>
            </a:r>
          </a:p>
          <a:p>
            <a:pPr lvl="1"/>
            <a:endParaRPr lang="en-CA" dirty="0"/>
          </a:p>
          <a:p>
            <a:r>
              <a:rPr lang="en-CA" sz="2000" b="1" dirty="0"/>
              <a:t>Spatial</a:t>
            </a:r>
            <a:r>
              <a:rPr lang="en-CA" dirty="0"/>
              <a:t> </a:t>
            </a:r>
            <a:r>
              <a:rPr lang="en-CA" sz="2000" b="1" dirty="0"/>
              <a:t>Variation in the Mitochondrial Genome</a:t>
            </a:r>
          </a:p>
          <a:p>
            <a:pPr lvl="1"/>
            <a:r>
              <a:rPr lang="en-CA" sz="1600" dirty="0"/>
              <a:t>Two observable peaks in variant frequency at two well studied hyper variable regions in all sample tissues</a:t>
            </a:r>
          </a:p>
          <a:p>
            <a:pPr lvl="1"/>
            <a:r>
              <a:rPr lang="en-CA" sz="1600" dirty="0"/>
              <a:t>One peak only seen in cheek tissue that was unaccounted for</a:t>
            </a:r>
          </a:p>
          <a:p>
            <a:pPr lvl="1"/>
            <a:endParaRPr lang="en-CA" sz="1600" dirty="0"/>
          </a:p>
          <a:p>
            <a:pPr lvl="1"/>
            <a:endParaRPr lang="en-CA" sz="1600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095159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F3295-AC7F-4525-8FCE-D1254073D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4D91F-B122-46AD-913E-11223DE6D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3159032"/>
            <a:ext cx="5029200" cy="2327368"/>
          </a:xfrm>
        </p:spPr>
        <p:txBody>
          <a:bodyPr>
            <a:normAutofit/>
          </a:bodyPr>
          <a:lstStyle/>
          <a:p>
            <a:r>
              <a:rPr lang="en-CA" sz="1800" dirty="0"/>
              <a:t>Heteroplasmy needs to be considered in rate analyses</a:t>
            </a:r>
          </a:p>
          <a:p>
            <a:pPr lvl="1"/>
            <a:r>
              <a:rPr lang="en-CA" sz="1600" dirty="0"/>
              <a:t>No mention in timescale rate estimate studies</a:t>
            </a:r>
          </a:p>
          <a:p>
            <a:pPr lvl="1"/>
            <a:r>
              <a:rPr lang="en-CA" sz="1600" dirty="0"/>
              <a:t>Revealed observable rate estimate differences with heteroplasmic samples</a:t>
            </a:r>
          </a:p>
          <a:p>
            <a:pPr lvl="1"/>
            <a:endParaRPr lang="en-CA" sz="1600" dirty="0"/>
          </a:p>
          <a:p>
            <a:endParaRPr lang="en-CA" sz="2000" dirty="0"/>
          </a:p>
          <a:p>
            <a:pPr lvl="1"/>
            <a:endParaRPr lang="en-CA" sz="1800" i="1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7806E49-ECB4-4556-89BB-6957193A3DC0}"/>
              </a:ext>
            </a:extLst>
          </p:cNvPr>
          <p:cNvSpPr txBox="1">
            <a:spLocks/>
          </p:cNvSpPr>
          <p:nvPr/>
        </p:nvSpPr>
        <p:spPr>
          <a:xfrm>
            <a:off x="1066799" y="2157716"/>
            <a:ext cx="10058399" cy="17939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2000" dirty="0"/>
              <a:t>In mitochondrial based pedigree studies, inferences of </a:t>
            </a:r>
            <a:r>
              <a:rPr lang="en-CA" sz="2000" i="1" dirty="0"/>
              <a:t>de novo </a:t>
            </a:r>
            <a:r>
              <a:rPr lang="en-CA" sz="2000" dirty="0"/>
              <a:t>mutation vs inherited variation are unclear.</a:t>
            </a:r>
            <a:endParaRPr lang="en-CA" sz="2000" i="1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78BF7D8-181C-44E9-B00F-519F8D220FDE}"/>
              </a:ext>
            </a:extLst>
          </p:cNvPr>
          <p:cNvSpPr txBox="1">
            <a:spLocks/>
          </p:cNvSpPr>
          <p:nvPr/>
        </p:nvSpPr>
        <p:spPr>
          <a:xfrm>
            <a:off x="6093691" y="3159031"/>
            <a:ext cx="5029200" cy="23273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1800" dirty="0"/>
              <a:t>Spatial Mutational Gradient may factor into previous estimates</a:t>
            </a:r>
          </a:p>
          <a:p>
            <a:pPr lvl="1"/>
            <a:r>
              <a:rPr lang="en-CA" sz="1600" dirty="0"/>
              <a:t>Unaddressed in previous studies</a:t>
            </a:r>
          </a:p>
          <a:p>
            <a:pPr lvl="1"/>
            <a:r>
              <a:rPr lang="en-CA" sz="1600" dirty="0"/>
              <a:t>New HVR region (11 000 nucleotide, dehydrogenase subunit coding region)</a:t>
            </a:r>
          </a:p>
          <a:p>
            <a:pPr lvl="1"/>
            <a:r>
              <a:rPr lang="en-CA" sz="1600" dirty="0"/>
              <a:t>Consideration of spatial variant in these studies.</a:t>
            </a:r>
          </a:p>
          <a:p>
            <a:pPr marL="0" indent="0">
              <a:buNone/>
            </a:pPr>
            <a:endParaRPr lang="en-CA" sz="1600" dirty="0"/>
          </a:p>
          <a:p>
            <a:pPr lvl="1"/>
            <a:endParaRPr lang="en-CA" sz="1800" i="1" dirty="0"/>
          </a:p>
        </p:txBody>
      </p:sp>
    </p:spTree>
    <p:extLst>
      <p:ext uri="{BB962C8B-B14F-4D97-AF65-F5344CB8AC3E}">
        <p14:creationId xmlns:p14="http://schemas.microsoft.com/office/powerpoint/2010/main" val="14753597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4C004-198C-40A1-8AEC-BF5628D10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Directions</a:t>
            </a:r>
            <a:endParaRPr lang="en-CA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9D15134-51F7-43B5-96AD-C733B9ED32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1432664"/>
              </p:ext>
            </p:extLst>
          </p:nvPr>
        </p:nvGraphicFramePr>
        <p:xfrm>
          <a:off x="1066800" y="1625600"/>
          <a:ext cx="10058400" cy="48306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31E5F73-BA87-423E-862D-104003681484}"/>
              </a:ext>
            </a:extLst>
          </p:cNvPr>
          <p:cNvSpPr txBox="1"/>
          <p:nvPr/>
        </p:nvSpPr>
        <p:spPr>
          <a:xfrm>
            <a:off x="1066800" y="651944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0" i="0" dirty="0" err="1">
                <a:solidFill>
                  <a:srgbClr val="212121"/>
                </a:solidFill>
                <a:effectLst/>
                <a:latin typeface="BlinkMacSystemFont"/>
              </a:rPr>
              <a:t>Mugal</a:t>
            </a:r>
            <a:r>
              <a:rPr lang="en-US" sz="800" b="0" i="0" dirty="0">
                <a:solidFill>
                  <a:srgbClr val="212121"/>
                </a:solidFill>
                <a:effectLst/>
                <a:latin typeface="BlinkMacSystemFont"/>
              </a:rPr>
              <a:t>, C. F., Wolf, J. B., &amp; </a:t>
            </a:r>
            <a:r>
              <a:rPr lang="en-US" sz="800" b="0" i="0" dirty="0" err="1">
                <a:solidFill>
                  <a:srgbClr val="212121"/>
                </a:solidFill>
                <a:effectLst/>
                <a:latin typeface="BlinkMacSystemFont"/>
              </a:rPr>
              <a:t>Kaj</a:t>
            </a:r>
            <a:r>
              <a:rPr lang="en-US" sz="800" b="0" i="0" dirty="0">
                <a:solidFill>
                  <a:srgbClr val="212121"/>
                </a:solidFill>
                <a:effectLst/>
                <a:latin typeface="BlinkMacSystemFont"/>
              </a:rPr>
              <a:t>, I. (2014). Why time matters: codon evolution and the temporal dynamics of </a:t>
            </a:r>
            <a:r>
              <a:rPr lang="en-US" sz="800" b="0" i="0" dirty="0" err="1">
                <a:solidFill>
                  <a:srgbClr val="212121"/>
                </a:solidFill>
                <a:effectLst/>
                <a:latin typeface="BlinkMacSystemFont"/>
              </a:rPr>
              <a:t>dN</a:t>
            </a:r>
            <a:r>
              <a:rPr lang="en-US" sz="800" b="0" i="0" dirty="0">
                <a:solidFill>
                  <a:srgbClr val="212121"/>
                </a:solidFill>
                <a:effectLst/>
                <a:latin typeface="BlinkMacSystemFont"/>
              </a:rPr>
              <a:t>/</a:t>
            </a:r>
            <a:r>
              <a:rPr lang="en-US" sz="800" b="0" i="0" dirty="0" err="1">
                <a:solidFill>
                  <a:srgbClr val="212121"/>
                </a:solidFill>
                <a:effectLst/>
                <a:latin typeface="BlinkMacSystemFont"/>
              </a:rPr>
              <a:t>dS</a:t>
            </a:r>
            <a:r>
              <a:rPr lang="en-US" sz="800" b="0" i="0" dirty="0">
                <a:solidFill>
                  <a:srgbClr val="212121"/>
                </a:solidFill>
                <a:effectLst/>
                <a:latin typeface="BlinkMacSystemFont"/>
              </a:rPr>
              <a:t>. </a:t>
            </a:r>
            <a:r>
              <a:rPr lang="en-US" sz="800" b="0" i="1" dirty="0">
                <a:solidFill>
                  <a:srgbClr val="212121"/>
                </a:solidFill>
                <a:effectLst/>
                <a:latin typeface="BlinkMacSystemFont"/>
              </a:rPr>
              <a:t>Molecular biology and evolution</a:t>
            </a:r>
            <a:r>
              <a:rPr lang="en-US" sz="800" b="0" i="0" dirty="0">
                <a:solidFill>
                  <a:srgbClr val="212121"/>
                </a:solidFill>
                <a:effectLst/>
                <a:latin typeface="BlinkMacSystemFont"/>
              </a:rPr>
              <a:t>, </a:t>
            </a:r>
            <a:r>
              <a:rPr lang="en-US" sz="800" b="0" i="1" dirty="0">
                <a:solidFill>
                  <a:srgbClr val="212121"/>
                </a:solidFill>
                <a:effectLst/>
                <a:latin typeface="BlinkMacSystemFont"/>
              </a:rPr>
              <a:t>31</a:t>
            </a:r>
            <a:r>
              <a:rPr lang="en-US" sz="800" b="0" i="0" dirty="0">
                <a:solidFill>
                  <a:srgbClr val="212121"/>
                </a:solidFill>
                <a:effectLst/>
                <a:latin typeface="BlinkMacSystemFont"/>
              </a:rPr>
              <a:t>(1), 212–231. https://doi.org/10.1093/molbev/mst192</a:t>
            </a:r>
            <a:endParaRPr lang="en-CA" sz="800" dirty="0"/>
          </a:p>
        </p:txBody>
      </p:sp>
    </p:spTree>
    <p:extLst>
      <p:ext uri="{BB962C8B-B14F-4D97-AF65-F5344CB8AC3E}">
        <p14:creationId xmlns:p14="http://schemas.microsoft.com/office/powerpoint/2010/main" val="29566606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D2C0F-91AD-491E-9CDE-15CA6D439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Acknowledgements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7F0F4-0ACB-4F14-95F4-D474F0D7C7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Dr Jason De Koning &amp; Lab</a:t>
            </a:r>
          </a:p>
          <a:p>
            <a:r>
              <a:rPr lang="en-US" dirty="0"/>
              <a:t>Dr David Anderson</a:t>
            </a:r>
          </a:p>
          <a:p>
            <a:r>
              <a:rPr lang="en-US" dirty="0"/>
              <a:t>Alberta Innovates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6791049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BC06A-AB9B-4DC3-8C57-575CA6F415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458909-3626-4412-A364-8C116BD87A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6641090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E22C1-B61B-44E1-9346-B96627B91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Scales?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D8215-50A0-4ECE-AB5B-7D3C614ACF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3815209" cy="3849624"/>
          </a:xfrm>
        </p:spPr>
        <p:txBody>
          <a:bodyPr/>
          <a:lstStyle/>
          <a:p>
            <a:r>
              <a:rPr lang="en-US" dirty="0"/>
              <a:t>Use Paleontological or biogeographical data to “calibrate” rate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Uses Bayesian analysis estimation with a “relaxed molecular clock model”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Found vertical translated exponential relationship between substitution and mutation rate.</a:t>
            </a: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858149-564E-486E-82F8-B65C47BDF8F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7819"/>
          <a:stretch/>
        </p:blipFill>
        <p:spPr>
          <a:xfrm>
            <a:off x="4882009" y="2092312"/>
            <a:ext cx="3036244" cy="38489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A665F4-F8D3-4BB0-BFF9-CE6B32B89A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1739"/>
          <a:stretch/>
        </p:blipFill>
        <p:spPr>
          <a:xfrm>
            <a:off x="7832528" y="2092311"/>
            <a:ext cx="3292672" cy="386043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4A37CD9-FEF7-46A5-8A30-BF3094E9A2D3}"/>
              </a:ext>
            </a:extLst>
          </p:cNvPr>
          <p:cNvSpPr txBox="1"/>
          <p:nvPr/>
        </p:nvSpPr>
        <p:spPr>
          <a:xfrm>
            <a:off x="4870253" y="621540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0" i="0" dirty="0">
                <a:solidFill>
                  <a:srgbClr val="212121"/>
                </a:solidFill>
                <a:effectLst/>
                <a:latin typeface="BlinkMacSystemFont"/>
              </a:rPr>
              <a:t>Ho, S. Y., Phillips, M. J., Cooper, A., &amp; Drummond, A. J. (2005). Time dependency of molecular rate estimates and systematic overestimation of recent divergence times. </a:t>
            </a:r>
            <a:r>
              <a:rPr lang="en-US" sz="800" b="0" i="1" dirty="0">
                <a:solidFill>
                  <a:srgbClr val="212121"/>
                </a:solidFill>
                <a:effectLst/>
                <a:latin typeface="BlinkMacSystemFont"/>
              </a:rPr>
              <a:t>Molecular biology and evolution</a:t>
            </a:r>
            <a:r>
              <a:rPr lang="en-US" sz="800" b="0" i="0" dirty="0">
                <a:solidFill>
                  <a:srgbClr val="212121"/>
                </a:solidFill>
                <a:effectLst/>
                <a:latin typeface="BlinkMacSystemFont"/>
              </a:rPr>
              <a:t>, </a:t>
            </a:r>
            <a:r>
              <a:rPr lang="en-US" sz="800" b="0" i="1" dirty="0">
                <a:solidFill>
                  <a:srgbClr val="212121"/>
                </a:solidFill>
                <a:effectLst/>
                <a:latin typeface="BlinkMacSystemFont"/>
              </a:rPr>
              <a:t>22</a:t>
            </a:r>
            <a:r>
              <a:rPr lang="en-US" sz="800" b="0" i="0" dirty="0">
                <a:solidFill>
                  <a:srgbClr val="212121"/>
                </a:solidFill>
                <a:effectLst/>
                <a:latin typeface="BlinkMacSystemFont"/>
              </a:rPr>
              <a:t>(7), 1561–1568. </a:t>
            </a:r>
            <a:endParaRPr lang="en-CA" sz="800" dirty="0"/>
          </a:p>
        </p:txBody>
      </p:sp>
    </p:spTree>
    <p:extLst>
      <p:ext uri="{BB962C8B-B14F-4D97-AF65-F5344CB8AC3E}">
        <p14:creationId xmlns:p14="http://schemas.microsoft.com/office/powerpoint/2010/main" val="3360529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354A8-67AA-4D03-A433-950C20164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Results Mom MAF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0B41241-F621-4DF3-9424-559608AD1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320" y="1682182"/>
            <a:ext cx="9157359" cy="4740389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BB68E-6562-45E3-A653-24255C0F09B8}"/>
              </a:ext>
            </a:extLst>
          </p:cNvPr>
          <p:cNvCxnSpPr>
            <a:cxnSpLocks/>
          </p:cNvCxnSpPr>
          <p:nvPr/>
        </p:nvCxnSpPr>
        <p:spPr>
          <a:xfrm>
            <a:off x="945605" y="4255588"/>
            <a:ext cx="495808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BAD79DB-9B56-442C-979A-4333B305A88A}"/>
              </a:ext>
            </a:extLst>
          </p:cNvPr>
          <p:cNvSpPr txBox="1"/>
          <p:nvPr/>
        </p:nvSpPr>
        <p:spPr>
          <a:xfrm>
            <a:off x="2876005" y="4288672"/>
            <a:ext cx="2773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Literature Estimate: 5x10</a:t>
            </a:r>
            <a:r>
              <a:rPr lang="en-CA" baseline="30000" dirty="0"/>
              <a:t>^-5</a:t>
            </a:r>
            <a:endParaRPr lang="en-CA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4BD4778-B723-419A-BBE5-1AAE0858E838}"/>
              </a:ext>
            </a:extLst>
          </p:cNvPr>
          <p:cNvCxnSpPr>
            <a:cxnSpLocks/>
          </p:cNvCxnSpPr>
          <p:nvPr/>
        </p:nvCxnSpPr>
        <p:spPr>
          <a:xfrm>
            <a:off x="6691809" y="5028478"/>
            <a:ext cx="410681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B8CD8E0-540A-4CFC-B797-EF461E7DA522}"/>
              </a:ext>
            </a:extLst>
          </p:cNvPr>
          <p:cNvSpPr txBox="1"/>
          <p:nvPr/>
        </p:nvSpPr>
        <p:spPr>
          <a:xfrm>
            <a:off x="7871095" y="5039790"/>
            <a:ext cx="2773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Literature Estimate: 5x10</a:t>
            </a:r>
            <a:r>
              <a:rPr lang="en-CA" baseline="30000" dirty="0"/>
              <a:t>^-5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311460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0A398-EB7C-419B-BD58-6D808565F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Variant Distribution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C61E25-050E-4C7B-BA03-BCBB9DB7FE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1885" y="2096894"/>
            <a:ext cx="5595259" cy="330242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AD5BF9-6EED-4A77-AF0B-27D9030FDE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857" y="2108152"/>
            <a:ext cx="5599330" cy="3291161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B59CF43-1A97-41B5-BBE3-AB809DDD005C}"/>
              </a:ext>
            </a:extLst>
          </p:cNvPr>
          <p:cNvCxnSpPr/>
          <p:nvPr/>
        </p:nvCxnSpPr>
        <p:spPr>
          <a:xfrm flipV="1">
            <a:off x="881743" y="5181600"/>
            <a:ext cx="0" cy="75111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8239CB5-CDAB-469C-A67E-F72E8680F89F}"/>
              </a:ext>
            </a:extLst>
          </p:cNvPr>
          <p:cNvCxnSpPr/>
          <p:nvPr/>
        </p:nvCxnSpPr>
        <p:spPr>
          <a:xfrm flipV="1">
            <a:off x="3690255" y="5214257"/>
            <a:ext cx="0" cy="75111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CFF99E8-B2AD-44FB-BFC5-CB1B9EFDBCFB}"/>
              </a:ext>
            </a:extLst>
          </p:cNvPr>
          <p:cNvCxnSpPr/>
          <p:nvPr/>
        </p:nvCxnSpPr>
        <p:spPr>
          <a:xfrm flipV="1">
            <a:off x="6716482" y="5214257"/>
            <a:ext cx="0" cy="75111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93570DA-9C03-4866-9405-661C0771D665}"/>
              </a:ext>
            </a:extLst>
          </p:cNvPr>
          <p:cNvCxnSpPr/>
          <p:nvPr/>
        </p:nvCxnSpPr>
        <p:spPr>
          <a:xfrm flipV="1">
            <a:off x="9514107" y="5192484"/>
            <a:ext cx="0" cy="75111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98880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F9E01-61FF-4F7F-9FAA-3D4969408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rmAutofit/>
          </a:bodyPr>
          <a:lstStyle/>
          <a:p>
            <a:r>
              <a:rPr lang="en-US" dirty="0"/>
              <a:t>“Hotspots”</a:t>
            </a:r>
            <a:endParaRPr lang="en-CA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912B3C2C-D550-4950-9ECD-320410D98D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Regions of Higher mutation rate.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Hyper Variable Region (HVR) 1 (~16000) has higher average mutation rate/</a:t>
            </a:r>
            <a:r>
              <a:rPr lang="en-US" dirty="0" err="1"/>
              <a:t>myr</a:t>
            </a:r>
            <a:r>
              <a:rPr lang="en-US" dirty="0"/>
              <a:t> </a:t>
            </a:r>
            <a:r>
              <a:rPr lang="en-US" baseline="-25000" dirty="0"/>
              <a:t>[1]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 and L strand Origin of Replication at ~600 (D-Loop HVR) </a:t>
            </a:r>
            <a:r>
              <a:rPr lang="en-US" baseline="-25000" dirty="0"/>
              <a:t>[2]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1A0E94-42C3-43CE-B855-081104EB7B36}"/>
              </a:ext>
            </a:extLst>
          </p:cNvPr>
          <p:cNvSpPr txBox="1"/>
          <p:nvPr/>
        </p:nvSpPr>
        <p:spPr>
          <a:xfrm>
            <a:off x="8292274" y="5557986"/>
            <a:ext cx="35147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solidFill>
                  <a:srgbClr val="212121"/>
                </a:solidFill>
                <a:latin typeface="BlinkMacSystemFont"/>
              </a:rPr>
              <a:t>[1] </a:t>
            </a:r>
            <a:r>
              <a:rPr lang="en-US" sz="800" b="0" i="0" dirty="0">
                <a:solidFill>
                  <a:srgbClr val="212121"/>
                </a:solidFill>
                <a:effectLst/>
                <a:latin typeface="BlinkMacSystemFont"/>
              </a:rPr>
              <a:t>Henn, B. M., </a:t>
            </a:r>
            <a:r>
              <a:rPr lang="en-US" sz="800" b="0" i="0" dirty="0" err="1">
                <a:solidFill>
                  <a:srgbClr val="212121"/>
                </a:solidFill>
                <a:effectLst/>
                <a:latin typeface="BlinkMacSystemFont"/>
              </a:rPr>
              <a:t>Gignoux</a:t>
            </a:r>
            <a:r>
              <a:rPr lang="en-US" sz="800" b="0" i="0" dirty="0">
                <a:solidFill>
                  <a:srgbClr val="212121"/>
                </a:solidFill>
                <a:effectLst/>
                <a:latin typeface="BlinkMacSystemFont"/>
              </a:rPr>
              <a:t>, C. R., Feldman, M. W., &amp; Mountain, J. L. (2009). Characterizing the time dependency of human mitochondrial DNA mutation rate estimates. </a:t>
            </a:r>
            <a:r>
              <a:rPr lang="en-US" sz="800" b="0" i="1" dirty="0">
                <a:solidFill>
                  <a:srgbClr val="212121"/>
                </a:solidFill>
                <a:effectLst/>
                <a:latin typeface="BlinkMacSystemFont"/>
              </a:rPr>
              <a:t>Molecular biology and evolution</a:t>
            </a:r>
            <a:r>
              <a:rPr lang="en-US" sz="800" b="0" i="0" dirty="0">
                <a:solidFill>
                  <a:srgbClr val="212121"/>
                </a:solidFill>
                <a:effectLst/>
                <a:latin typeface="BlinkMacSystemFont"/>
              </a:rPr>
              <a:t>, </a:t>
            </a:r>
            <a:r>
              <a:rPr lang="en-US" sz="800" b="0" i="1" dirty="0">
                <a:solidFill>
                  <a:srgbClr val="212121"/>
                </a:solidFill>
                <a:effectLst/>
                <a:latin typeface="BlinkMacSystemFont"/>
              </a:rPr>
              <a:t>26</a:t>
            </a:r>
            <a:r>
              <a:rPr lang="en-US" sz="800" b="0" i="0" dirty="0">
                <a:solidFill>
                  <a:srgbClr val="212121"/>
                </a:solidFill>
                <a:effectLst/>
                <a:latin typeface="BlinkMacSystemFont"/>
              </a:rPr>
              <a:t>(1), 217–230 .</a:t>
            </a:r>
          </a:p>
          <a:p>
            <a:endParaRPr lang="en-US" sz="800" b="0" i="0" dirty="0">
              <a:solidFill>
                <a:srgbClr val="212121"/>
              </a:solidFill>
              <a:effectLst/>
              <a:latin typeface="BlinkMacSystemFont"/>
            </a:endParaRPr>
          </a:p>
          <a:p>
            <a:r>
              <a:rPr lang="en-CA" sz="800" b="0" i="0" dirty="0">
                <a:solidFill>
                  <a:srgbClr val="212121"/>
                </a:solidFill>
                <a:effectLst/>
                <a:latin typeface="BlinkMacSystemFont"/>
              </a:rPr>
              <a:t>[2]</a:t>
            </a:r>
            <a:r>
              <a:rPr lang="en-CA" sz="800" b="0" i="0" dirty="0" err="1">
                <a:solidFill>
                  <a:srgbClr val="212121"/>
                </a:solidFill>
                <a:effectLst/>
                <a:latin typeface="BlinkMacSystemFont"/>
              </a:rPr>
              <a:t>Taanman</a:t>
            </a:r>
            <a:r>
              <a:rPr lang="en-CA" sz="800" b="0" i="0" dirty="0">
                <a:solidFill>
                  <a:srgbClr val="212121"/>
                </a:solidFill>
                <a:effectLst/>
                <a:latin typeface="BlinkMacSystemFont"/>
              </a:rPr>
              <a:t> J. W. (1999). The mitochondrial genome: structure, transcription, translation and replication. </a:t>
            </a:r>
            <a:r>
              <a:rPr lang="en-CA" sz="800" b="0" i="1" dirty="0" err="1">
                <a:solidFill>
                  <a:srgbClr val="212121"/>
                </a:solidFill>
                <a:effectLst/>
                <a:latin typeface="BlinkMacSystemFont"/>
              </a:rPr>
              <a:t>Biochimica</a:t>
            </a:r>
            <a:r>
              <a:rPr lang="en-CA" sz="800" b="0" i="1" dirty="0">
                <a:solidFill>
                  <a:srgbClr val="212121"/>
                </a:solidFill>
                <a:effectLst/>
                <a:latin typeface="BlinkMacSystemFont"/>
              </a:rPr>
              <a:t> et </a:t>
            </a:r>
            <a:r>
              <a:rPr lang="en-CA" sz="800" b="0" i="1" dirty="0" err="1">
                <a:solidFill>
                  <a:srgbClr val="212121"/>
                </a:solidFill>
                <a:effectLst/>
                <a:latin typeface="BlinkMacSystemFont"/>
              </a:rPr>
              <a:t>biophysica</a:t>
            </a:r>
            <a:r>
              <a:rPr lang="en-CA" sz="800" b="0" i="1" dirty="0">
                <a:solidFill>
                  <a:srgbClr val="212121"/>
                </a:solidFill>
                <a:effectLst/>
                <a:latin typeface="BlinkMacSystemFont"/>
              </a:rPr>
              <a:t> acta</a:t>
            </a:r>
            <a:r>
              <a:rPr lang="en-CA" sz="800" b="0" i="0" dirty="0">
                <a:solidFill>
                  <a:srgbClr val="212121"/>
                </a:solidFill>
                <a:effectLst/>
                <a:latin typeface="BlinkMacSystemFont"/>
              </a:rPr>
              <a:t>, </a:t>
            </a:r>
            <a:r>
              <a:rPr lang="en-CA" sz="800" b="0" i="1" dirty="0">
                <a:solidFill>
                  <a:srgbClr val="212121"/>
                </a:solidFill>
                <a:effectLst/>
                <a:latin typeface="BlinkMacSystemFont"/>
              </a:rPr>
              <a:t>1410</a:t>
            </a:r>
            <a:r>
              <a:rPr lang="en-CA" sz="800" b="0" i="0" dirty="0">
                <a:solidFill>
                  <a:srgbClr val="212121"/>
                </a:solidFill>
                <a:effectLst/>
                <a:latin typeface="BlinkMacSystemFont"/>
              </a:rPr>
              <a:t>(2), 103–123. https://doi-org.ezproxy.lib.ucalgary.ca/10.1016/s0005-2728(98)00161-3</a:t>
            </a:r>
            <a:endParaRPr lang="en-US" sz="800" b="0" i="0" dirty="0">
              <a:solidFill>
                <a:srgbClr val="212121"/>
              </a:solidFill>
              <a:effectLst/>
              <a:latin typeface="BlinkMacSystemFont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4157C80-8A2A-4B51-A529-6315A2AB9C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3888"/>
            <a:ext cx="8028021" cy="5110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2790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F9E01-61FF-4F7F-9FAA-3D4969408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rmAutofit/>
          </a:bodyPr>
          <a:lstStyle/>
          <a:p>
            <a:r>
              <a:rPr lang="en-US" dirty="0"/>
              <a:t>“Hotspots”</a:t>
            </a:r>
            <a:endParaRPr lang="en-CA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912B3C2C-D550-4950-9ECD-320410D98D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Regions of Higher mutation rate.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Hyper Variable Region (HVR) 1 (~16000) has higher average mutation rate/</a:t>
            </a:r>
            <a:r>
              <a:rPr lang="en-US" dirty="0" err="1"/>
              <a:t>myr</a:t>
            </a:r>
            <a:r>
              <a:rPr lang="en-US" dirty="0"/>
              <a:t> </a:t>
            </a:r>
            <a:r>
              <a:rPr lang="en-US" baseline="-25000" dirty="0"/>
              <a:t>[1]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 and L strand Origin of Replication at ~600 (D-Loop HVR) </a:t>
            </a:r>
            <a:r>
              <a:rPr lang="en-US" baseline="-25000" dirty="0"/>
              <a:t>[2]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1A0E94-42C3-43CE-B855-081104EB7B36}"/>
              </a:ext>
            </a:extLst>
          </p:cNvPr>
          <p:cNvSpPr txBox="1"/>
          <p:nvPr/>
        </p:nvSpPr>
        <p:spPr>
          <a:xfrm>
            <a:off x="8292274" y="5557986"/>
            <a:ext cx="35147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solidFill>
                  <a:srgbClr val="212121"/>
                </a:solidFill>
                <a:latin typeface="BlinkMacSystemFont"/>
              </a:rPr>
              <a:t>[1] </a:t>
            </a:r>
            <a:r>
              <a:rPr lang="en-US" sz="800" b="0" i="0" dirty="0">
                <a:solidFill>
                  <a:srgbClr val="212121"/>
                </a:solidFill>
                <a:effectLst/>
                <a:latin typeface="BlinkMacSystemFont"/>
              </a:rPr>
              <a:t>Henn, B. M., </a:t>
            </a:r>
            <a:r>
              <a:rPr lang="en-US" sz="800" b="0" i="0" dirty="0" err="1">
                <a:solidFill>
                  <a:srgbClr val="212121"/>
                </a:solidFill>
                <a:effectLst/>
                <a:latin typeface="BlinkMacSystemFont"/>
              </a:rPr>
              <a:t>Gignoux</a:t>
            </a:r>
            <a:r>
              <a:rPr lang="en-US" sz="800" b="0" i="0" dirty="0">
                <a:solidFill>
                  <a:srgbClr val="212121"/>
                </a:solidFill>
                <a:effectLst/>
                <a:latin typeface="BlinkMacSystemFont"/>
              </a:rPr>
              <a:t>, C. R., Feldman, M. W., &amp; Mountain, J. L. (2009). Characterizing the time dependency of human mitochondrial DNA mutation rate estimates. </a:t>
            </a:r>
            <a:r>
              <a:rPr lang="en-US" sz="800" b="0" i="1" dirty="0">
                <a:solidFill>
                  <a:srgbClr val="212121"/>
                </a:solidFill>
                <a:effectLst/>
                <a:latin typeface="BlinkMacSystemFont"/>
              </a:rPr>
              <a:t>Molecular biology and evolution</a:t>
            </a:r>
            <a:r>
              <a:rPr lang="en-US" sz="800" b="0" i="0" dirty="0">
                <a:solidFill>
                  <a:srgbClr val="212121"/>
                </a:solidFill>
                <a:effectLst/>
                <a:latin typeface="BlinkMacSystemFont"/>
              </a:rPr>
              <a:t>, </a:t>
            </a:r>
            <a:r>
              <a:rPr lang="en-US" sz="800" b="0" i="1" dirty="0">
                <a:solidFill>
                  <a:srgbClr val="212121"/>
                </a:solidFill>
                <a:effectLst/>
                <a:latin typeface="BlinkMacSystemFont"/>
              </a:rPr>
              <a:t>26</a:t>
            </a:r>
            <a:r>
              <a:rPr lang="en-US" sz="800" b="0" i="0" dirty="0">
                <a:solidFill>
                  <a:srgbClr val="212121"/>
                </a:solidFill>
                <a:effectLst/>
                <a:latin typeface="BlinkMacSystemFont"/>
              </a:rPr>
              <a:t>(1), 217–230 .</a:t>
            </a:r>
          </a:p>
          <a:p>
            <a:endParaRPr lang="en-US" sz="800" b="0" i="0" dirty="0">
              <a:solidFill>
                <a:srgbClr val="212121"/>
              </a:solidFill>
              <a:effectLst/>
              <a:latin typeface="BlinkMacSystemFont"/>
            </a:endParaRPr>
          </a:p>
          <a:p>
            <a:r>
              <a:rPr lang="en-CA" sz="800" b="0" i="0" dirty="0">
                <a:solidFill>
                  <a:srgbClr val="212121"/>
                </a:solidFill>
                <a:effectLst/>
                <a:latin typeface="BlinkMacSystemFont"/>
              </a:rPr>
              <a:t>[2]</a:t>
            </a:r>
            <a:r>
              <a:rPr lang="en-CA" sz="800" b="0" i="0" dirty="0" err="1">
                <a:solidFill>
                  <a:srgbClr val="212121"/>
                </a:solidFill>
                <a:effectLst/>
                <a:latin typeface="BlinkMacSystemFont"/>
              </a:rPr>
              <a:t>Taanman</a:t>
            </a:r>
            <a:r>
              <a:rPr lang="en-CA" sz="800" b="0" i="0" dirty="0">
                <a:solidFill>
                  <a:srgbClr val="212121"/>
                </a:solidFill>
                <a:effectLst/>
                <a:latin typeface="BlinkMacSystemFont"/>
              </a:rPr>
              <a:t> J. W. (1999). The mitochondrial genome: structure, transcription, translation and replication. </a:t>
            </a:r>
            <a:r>
              <a:rPr lang="en-CA" sz="800" b="0" i="1" dirty="0" err="1">
                <a:solidFill>
                  <a:srgbClr val="212121"/>
                </a:solidFill>
                <a:effectLst/>
                <a:latin typeface="BlinkMacSystemFont"/>
              </a:rPr>
              <a:t>Biochimica</a:t>
            </a:r>
            <a:r>
              <a:rPr lang="en-CA" sz="800" b="0" i="1" dirty="0">
                <a:solidFill>
                  <a:srgbClr val="212121"/>
                </a:solidFill>
                <a:effectLst/>
                <a:latin typeface="BlinkMacSystemFont"/>
              </a:rPr>
              <a:t> et </a:t>
            </a:r>
            <a:r>
              <a:rPr lang="en-CA" sz="800" b="0" i="1" dirty="0" err="1">
                <a:solidFill>
                  <a:srgbClr val="212121"/>
                </a:solidFill>
                <a:effectLst/>
                <a:latin typeface="BlinkMacSystemFont"/>
              </a:rPr>
              <a:t>biophysica</a:t>
            </a:r>
            <a:r>
              <a:rPr lang="en-CA" sz="800" b="0" i="1" dirty="0">
                <a:solidFill>
                  <a:srgbClr val="212121"/>
                </a:solidFill>
                <a:effectLst/>
                <a:latin typeface="BlinkMacSystemFont"/>
              </a:rPr>
              <a:t> acta</a:t>
            </a:r>
            <a:r>
              <a:rPr lang="en-CA" sz="800" b="0" i="0" dirty="0">
                <a:solidFill>
                  <a:srgbClr val="212121"/>
                </a:solidFill>
                <a:effectLst/>
                <a:latin typeface="BlinkMacSystemFont"/>
              </a:rPr>
              <a:t>, </a:t>
            </a:r>
            <a:r>
              <a:rPr lang="en-CA" sz="800" b="0" i="1" dirty="0">
                <a:solidFill>
                  <a:srgbClr val="212121"/>
                </a:solidFill>
                <a:effectLst/>
                <a:latin typeface="BlinkMacSystemFont"/>
              </a:rPr>
              <a:t>1410</a:t>
            </a:r>
            <a:r>
              <a:rPr lang="en-CA" sz="800" b="0" i="0" dirty="0">
                <a:solidFill>
                  <a:srgbClr val="212121"/>
                </a:solidFill>
                <a:effectLst/>
                <a:latin typeface="BlinkMacSystemFont"/>
              </a:rPr>
              <a:t>(2), 103–123. https://doi-org.ezproxy.lib.ucalgary.ca/10.1016/s0005-2728(98)00161-3</a:t>
            </a:r>
            <a:endParaRPr lang="en-US" sz="800" b="0" i="0" dirty="0">
              <a:solidFill>
                <a:srgbClr val="212121"/>
              </a:solidFill>
              <a:effectLst/>
              <a:latin typeface="BlinkMacSystemFont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4157C80-8A2A-4B51-A529-6315A2AB9C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63600"/>
            <a:ext cx="8044183" cy="5120511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F680E819-CA80-4E8E-B201-3896A15013DF}"/>
              </a:ext>
            </a:extLst>
          </p:cNvPr>
          <p:cNvSpPr/>
          <p:nvPr/>
        </p:nvSpPr>
        <p:spPr>
          <a:xfrm>
            <a:off x="6471920" y="1391920"/>
            <a:ext cx="863600" cy="1930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3A0A427-C3F3-4CE3-954C-4595C750AD18}"/>
              </a:ext>
            </a:extLst>
          </p:cNvPr>
          <p:cNvSpPr/>
          <p:nvPr/>
        </p:nvSpPr>
        <p:spPr>
          <a:xfrm>
            <a:off x="586027" y="1391920"/>
            <a:ext cx="863600" cy="1930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18CF509-1FFA-4352-B868-E6E4750E28C3}"/>
              </a:ext>
            </a:extLst>
          </p:cNvPr>
          <p:cNvSpPr/>
          <p:nvPr/>
        </p:nvSpPr>
        <p:spPr>
          <a:xfrm>
            <a:off x="3068320" y="3815080"/>
            <a:ext cx="863600" cy="1930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2A0DF6E-44DF-4745-8B6A-EE2E6F299D79}"/>
              </a:ext>
            </a:extLst>
          </p:cNvPr>
          <p:cNvSpPr/>
          <p:nvPr/>
        </p:nvSpPr>
        <p:spPr>
          <a:xfrm>
            <a:off x="436880" y="3957320"/>
            <a:ext cx="863600" cy="1930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C0AA2D3-9FF7-40E1-B659-7D5D8E7E1027}"/>
              </a:ext>
            </a:extLst>
          </p:cNvPr>
          <p:cNvSpPr/>
          <p:nvPr/>
        </p:nvSpPr>
        <p:spPr>
          <a:xfrm>
            <a:off x="4399280" y="3957320"/>
            <a:ext cx="863600" cy="1930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D8221B2-563E-42A3-873E-B0EC6AA0C2EA}"/>
              </a:ext>
            </a:extLst>
          </p:cNvPr>
          <p:cNvSpPr/>
          <p:nvPr/>
        </p:nvSpPr>
        <p:spPr>
          <a:xfrm>
            <a:off x="7061200" y="4109720"/>
            <a:ext cx="863600" cy="1930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8388858-E2AC-429E-A087-6E269D8200C5}"/>
              </a:ext>
            </a:extLst>
          </p:cNvPr>
          <p:cNvSpPr/>
          <p:nvPr/>
        </p:nvSpPr>
        <p:spPr>
          <a:xfrm>
            <a:off x="6360160" y="4500880"/>
            <a:ext cx="690880" cy="1447800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771856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FIVE">
      <a:dk1>
        <a:sysClr val="windowText" lastClr="000000"/>
      </a:dk1>
      <a:lt1>
        <a:sysClr val="window" lastClr="FFFFFF"/>
      </a:lt1>
      <a:dk2>
        <a:srgbClr val="505046"/>
      </a:dk2>
      <a:lt2>
        <a:srgbClr val="F5F6F4"/>
      </a:lt2>
      <a:accent1>
        <a:srgbClr val="57903F"/>
      </a:accent1>
      <a:accent2>
        <a:srgbClr val="F03F2B"/>
      </a:accent2>
      <a:accent3>
        <a:srgbClr val="3488A0"/>
      </a:accent3>
      <a:accent4>
        <a:srgbClr val="F8D22F"/>
      </a:accent4>
      <a:accent5>
        <a:srgbClr val="5CC6D6"/>
      </a:accent5>
      <a:accent6>
        <a:srgbClr val="B8D233"/>
      </a:accent6>
      <a:hlink>
        <a:srgbClr val="00B0F0"/>
      </a:hlink>
      <a:folHlink>
        <a:srgbClr val="B2B2B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iginal 5_01_Win32" id="{77344C68-A3F1-476B-8680-97D7F429B46B}" vid="{89780073-58E8-4DFF-BF29-BA99F805284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37651BA-F45C-4845-9AB3-E0A65B39F5E1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2D276E62-80A3-44DD-9BCC-97ED2B99B57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DB58277-F8DF-46FF-84EC-EF41B835E69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{B88B3B38-2AC0-4345-9BC5-6C13D5500CEA}tf78438558_win32</Template>
  <TotalTime>2936</TotalTime>
  <Words>1432</Words>
  <Application>Microsoft Office PowerPoint</Application>
  <PresentationFormat>Widescreen</PresentationFormat>
  <Paragraphs>176</Paragraphs>
  <Slides>26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BlinkMacSystemFont</vt:lpstr>
      <vt:lpstr>Calibri</vt:lpstr>
      <vt:lpstr>Cambria Math</vt:lpstr>
      <vt:lpstr>Century Gothic</vt:lpstr>
      <vt:lpstr>Garamond</vt:lpstr>
      <vt:lpstr>Times New Roman</vt:lpstr>
      <vt:lpstr>SavonVTI</vt:lpstr>
      <vt:lpstr>HETEROPLASMY IN HUMAN MITOCHONDRIAL GENOME MUTATION RATES DIFFERENCES. </vt:lpstr>
      <vt:lpstr>Mitochondria Background</vt:lpstr>
      <vt:lpstr>Heteroplasmy</vt:lpstr>
      <vt:lpstr>Evolution Rate Estimate Methods</vt:lpstr>
      <vt:lpstr>Controversy </vt:lpstr>
      <vt:lpstr>Molecular Clock</vt:lpstr>
      <vt:lpstr>μ=Pedigree Rate k=Phylogeny Rate </vt:lpstr>
      <vt:lpstr>PowerPoint Presentation</vt:lpstr>
      <vt:lpstr>Previous work</vt:lpstr>
      <vt:lpstr>HETEROPLASMY</vt:lpstr>
      <vt:lpstr>Aims &amp; Objectives</vt:lpstr>
      <vt:lpstr>Methodology</vt:lpstr>
      <vt:lpstr>Results: Rate Estimates</vt:lpstr>
      <vt:lpstr>Results: Minor Allele Frequency (MAF)</vt:lpstr>
      <vt:lpstr>Error in Estimates?</vt:lpstr>
      <vt:lpstr>Error in Estimates?</vt:lpstr>
      <vt:lpstr>Results</vt:lpstr>
      <vt:lpstr>Conclusions</vt:lpstr>
      <vt:lpstr>Future Directions</vt:lpstr>
      <vt:lpstr>Acknowledgements</vt:lpstr>
      <vt:lpstr>Thank you</vt:lpstr>
      <vt:lpstr>Time Scales?</vt:lpstr>
      <vt:lpstr>Results Mom MAF</vt:lpstr>
      <vt:lpstr>Variant Distribution</vt:lpstr>
      <vt:lpstr>“Hotspots”</vt:lpstr>
      <vt:lpstr>“Hotspots”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Investigations of Solutions to the Different Pedigree and Phylogeny Rates of Evolution in Human Mitochondrial Genomes.</dc:title>
  <dc:creator>Keaton Banik</dc:creator>
  <cp:lastModifiedBy>Keaton Banik</cp:lastModifiedBy>
  <cp:revision>13</cp:revision>
  <dcterms:created xsi:type="dcterms:W3CDTF">2022-02-28T09:57:16Z</dcterms:created>
  <dcterms:modified xsi:type="dcterms:W3CDTF">2022-04-08T03:56:46Z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